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3333333" cy="7500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theme" Target="theme/theme1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"1.0" encoding="UTF-8" standalone="yes"?>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"1.0" encoding="UTF-8" standalone="yes"?>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"1.0" encoding="UTF-8" standalone="yes"?>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"1.0" encoding="UTF-8" standalone="yes"?>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"1.0" encoding="UTF-8" standalone="yes"?>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/>
        </p:nvSpPr>
        <p:spPr>
          <a:xfrm>
            <a:off x="594360" y="4892040"/>
            <a:ext cx="5486400" cy="1828800"/>
          </a:xfrm>
          <a:prstGeom prst="rect">
            <a:avLst/>
          </a:prstGeom>
          <a:noFill/>
          <a:ln>
            <a:noFill/>
          </a:ln>
        </p:spPr>
        <p:txBody>
          <a:bodyPr wrap="square" anchor="t" lIns="137160" tIns="91440" rIns="137160" bIns="91440"/>
          <a:lstStyle/>
          <a:p>
            <a:pPr/>
            <a:r>
              <a:rPr lang="en-US" sz="1200" b="1">
                <a:solidFill>
                  <a:srgbClr val="263238"/>
                </a:solidFill>
              </a:rPr>
              <a:t>Presenter notes</a:t>
            </a:r>
            <a:endParaRPr lang="en-US" sz="1200"/>
          </a:p>
          <a:p>
            <a:pPr/>
            <a:r>
              <a:rPr lang="en-US" sz="1200">
                <a:solidFill>
                  <a:srgbClr val="263238"/>
                </a:solidFill>
              </a:rPr>
              <a:t>Good morning respected faculty members. My BTP is PDF Toolkit, a web-based platform for common PDF operations. I will cover the problem, implementation, deployment, debugging journey, results, and future scope.</a:t>
            </a:r>
            <a:endParaRPr lang="en-US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/>
        </p:nvSpPr>
        <p:spPr>
          <a:xfrm>
            <a:off x="594360" y="4892040"/>
            <a:ext cx="5486400" cy="1828800"/>
          </a:xfrm>
          <a:prstGeom prst="rect">
            <a:avLst/>
          </a:prstGeom>
          <a:noFill/>
          <a:ln>
            <a:noFill/>
          </a:ln>
        </p:spPr>
        <p:txBody>
          <a:bodyPr wrap="square" anchor="t" lIns="137160" tIns="91440" rIns="137160" bIns="91440"/>
          <a:lstStyle/>
          <a:p>
            <a:pPr/>
            <a:r>
              <a:rPr lang="en-US" sz="1200" b="1">
                <a:solidFill>
                  <a:srgbClr val="263238"/>
                </a:solidFill>
              </a:rPr>
              <a:t>Presenter notes</a:t>
            </a:r>
            <a:endParaRPr lang="en-US" sz="1200"/>
          </a:p>
          <a:p>
            <a:pPr/>
            <a:r>
              <a:rPr lang="en-US" sz="1200">
                <a:solidFill>
                  <a:srgbClr val="263238"/>
                </a:solidFill>
              </a:rPr>
              <a:t>Start by explaining that PDF operations are common in academic and office work. The project combines a user-friendly interface with a backend that performs the heavier PDF processing reliably.</a:t>
            </a:r>
            <a:endParaRPr lang="en-US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/>
        </p:nvSpPr>
        <p:spPr>
          <a:xfrm>
            <a:off x="594360" y="4892040"/>
            <a:ext cx="5486400" cy="1828800"/>
          </a:xfrm>
          <a:prstGeom prst="rect">
            <a:avLst/>
          </a:prstGeom>
          <a:noFill/>
          <a:ln>
            <a:noFill/>
          </a:ln>
        </p:spPr>
        <p:txBody>
          <a:bodyPr wrap="square" anchor="t" lIns="137160" tIns="91440" rIns="137160" bIns="91440"/>
          <a:lstStyle/>
          <a:p>
            <a:pPr/>
            <a:r>
              <a:rPr lang="en-US" sz="1200" b="1">
                <a:solidFill>
                  <a:srgbClr val="263238"/>
                </a:solidFill>
              </a:rPr>
              <a:t>Presenter notes</a:t>
            </a:r>
            <a:endParaRPr lang="en-US" sz="1200"/>
          </a:p>
          <a:p>
            <a:pPr/>
            <a:r>
              <a:rPr lang="en-US" sz="1200">
                <a:solidFill>
                  <a:srgbClr val="263238"/>
                </a:solidFill>
              </a:rPr>
              <a:t>Explain that the problem is not only editing PDFs, but building a complete platform where upload, processing, download, API routing, validation, deployment and verification all work together.</a:t>
            </a:r>
            <a:endParaRPr lang="en-US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/>
        </p:nvSpPr>
        <p:spPr>
          <a:xfrm>
            <a:off x="594360" y="4892040"/>
            <a:ext cx="5486400" cy="1828800"/>
          </a:xfrm>
          <a:prstGeom prst="rect">
            <a:avLst/>
          </a:prstGeom>
          <a:noFill/>
          <a:ln>
            <a:noFill/>
          </a:ln>
        </p:spPr>
        <p:txBody>
          <a:bodyPr wrap="square" anchor="t" lIns="137160" tIns="91440" rIns="137160" bIns="91440"/>
          <a:lstStyle/>
          <a:p>
            <a:pPr/>
            <a:r>
              <a:rPr lang="en-US" sz="1200" b="1">
                <a:solidFill>
                  <a:srgbClr val="263238"/>
                </a:solidFill>
              </a:rPr>
              <a:t>Presenter notes</a:t>
            </a:r>
            <a:endParaRPr lang="en-US" sz="1200"/>
          </a:p>
          <a:p>
            <a:pPr/>
            <a:r>
              <a:rPr lang="en-US" sz="1200">
                <a:solidFill>
                  <a:srgbClr val="263238"/>
                </a:solidFill>
              </a:rPr>
              <a:t>Mention measurable goals: working tools, documented APIs, public deployment, production environment variables, and verification scripts to prove the service is healthy after deployment.</a:t>
            </a:r>
            <a:endParaRPr lang="en-US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/>
        </p:nvSpPr>
        <p:spPr>
          <a:xfrm>
            <a:off x="594360" y="4892040"/>
            <a:ext cx="5486400" cy="1828800"/>
          </a:xfrm>
          <a:prstGeom prst="rect">
            <a:avLst/>
          </a:prstGeom>
          <a:noFill/>
          <a:ln>
            <a:noFill/>
          </a:ln>
        </p:spPr>
        <p:txBody>
          <a:bodyPr wrap="square" anchor="t" lIns="137160" tIns="91440" rIns="137160" bIns="91440"/>
          <a:lstStyle/>
          <a:p>
            <a:pPr/>
            <a:r>
              <a:rPr lang="en-US" sz="1200" b="1">
                <a:solidFill>
                  <a:srgbClr val="263238"/>
                </a:solidFill>
              </a:rPr>
              <a:t>Presenter notes</a:t>
            </a:r>
            <a:endParaRPr lang="en-US" sz="1200"/>
          </a:p>
          <a:p>
            <a:pPr/>
            <a:r>
              <a:rPr lang="en-US" sz="1200">
                <a:solidFill>
                  <a:srgbClr val="263238"/>
                </a:solidFill>
              </a:rPr>
              <a:t>Briefly describe each feature category. Keep the pace fast here because detailed implementation appears later in backend and API slides.</a:t>
            </a:r>
            <a:endParaRPr lang="en-US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/>
        </p:nvSpPr>
        <p:spPr>
          <a:xfrm>
            <a:off x="594360" y="4892040"/>
            <a:ext cx="5486400" cy="1828800"/>
          </a:xfrm>
          <a:prstGeom prst="rect">
            <a:avLst/>
          </a:prstGeom>
          <a:noFill/>
          <a:ln>
            <a:noFill/>
          </a:ln>
        </p:spPr>
        <p:txBody>
          <a:bodyPr wrap="square" anchor="t" lIns="137160" tIns="91440" rIns="137160" bIns="91440"/>
          <a:lstStyle/>
          <a:p>
            <a:pPr/>
            <a:r>
              <a:rPr lang="en-US" sz="1200" b="1">
                <a:solidFill>
                  <a:srgbClr val="263238"/>
                </a:solidFill>
              </a:rPr>
              <a:t>Presenter notes</a:t>
            </a:r>
            <a:endParaRPr lang="en-US" sz="1200"/>
          </a:p>
          <a:p>
            <a:pPr/>
            <a:r>
              <a:rPr lang="en-US" sz="1200">
                <a:solidFill>
                  <a:srgbClr val="263238"/>
                </a:solidFill>
              </a:rPr>
              <a:t>Explain why these technologies were selected: React for reusable UI, FastAPI for typed APIs and automatic docs, PyMuPDF/pypdf for PDF processing, Vercel/Render for public deployment.</a:t>
            </a:r>
            <a:endParaRPr lang="en-US" sz="1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/>
        </p:nvSpPr>
        <p:spPr>
          <a:xfrm>
            <a:off x="594360" y="4892040"/>
            <a:ext cx="5486400" cy="1828800"/>
          </a:xfrm>
          <a:prstGeom prst="rect">
            <a:avLst/>
          </a:prstGeom>
          <a:noFill/>
          <a:ln>
            <a:noFill/>
          </a:ln>
        </p:spPr>
        <p:txBody>
          <a:bodyPr wrap="square" anchor="t" lIns="137160" tIns="91440" rIns="137160" bIns="91440"/>
          <a:lstStyle/>
          <a:p>
            <a:pPr/>
            <a:r>
              <a:rPr lang="en-US" sz="1200" b="1">
                <a:solidFill>
                  <a:srgbClr val="263238"/>
                </a:solidFill>
              </a:rPr>
              <a:t>Presenter notes</a:t>
            </a:r>
            <a:endParaRPr lang="en-US" sz="1200"/>
          </a:p>
          <a:p>
            <a:pPr/>
            <a:r>
              <a:rPr lang="en-US" sz="1200">
                <a:solidFill>
                  <a:srgbClr val="263238"/>
                </a:solidFill>
              </a:rPr>
              <a:t>Walk left to right: browser UI, REST call, FastAPI router, processing service, file response. Emphasize that heavy processing stays on the server.</a:t>
            </a:r>
            <a:endParaRPr lang="en-US" sz="12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/>
        </p:nvSpPr>
        <p:spPr>
          <a:xfrm>
            <a:off x="594360" y="4892040"/>
            <a:ext cx="5486400" cy="1828800"/>
          </a:xfrm>
          <a:prstGeom prst="rect">
            <a:avLst/>
          </a:prstGeom>
          <a:noFill/>
          <a:ln>
            <a:noFill/>
          </a:ln>
        </p:spPr>
        <p:txBody>
          <a:bodyPr wrap="square" anchor="t" lIns="137160" tIns="91440" rIns="137160" bIns="91440"/>
          <a:lstStyle/>
          <a:p>
            <a:pPr/>
            <a:r>
              <a:rPr lang="en-US" sz="1200" b="1">
                <a:solidFill>
                  <a:srgbClr val="263238"/>
                </a:solidFill>
              </a:rPr>
              <a:t>Presenter notes</a:t>
            </a:r>
            <a:endParaRPr lang="en-US" sz="1200"/>
          </a:p>
          <a:p>
            <a:pPr/>
            <a:r>
              <a:rPr lang="en-US" sz="1200">
                <a:solidFill>
                  <a:srgbClr val="263238"/>
                </a:solidFill>
              </a:rPr>
              <a:t>Explain that the frontend is intentionally simple for users: select a tool, upload a file, submit, and download the result. Environment variables avoid hardcoding localhost in production.</a:t>
            </a:r>
            <a:endParaRPr lang="en-US" sz="12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/>
        </p:nvSpPr>
        <p:spPr>
          <a:xfrm>
            <a:off x="594360" y="4892040"/>
            <a:ext cx="5486400" cy="1828800"/>
          </a:xfrm>
          <a:prstGeom prst="rect">
            <a:avLst/>
          </a:prstGeom>
          <a:noFill/>
          <a:ln>
            <a:noFill/>
          </a:ln>
        </p:spPr>
        <p:txBody>
          <a:bodyPr wrap="square" anchor="t" lIns="137160" tIns="91440" rIns="137160" bIns="91440"/>
          <a:lstStyle/>
          <a:p>
            <a:pPr/>
            <a:r>
              <a:rPr lang="en-US" sz="1200" b="1">
                <a:solidFill>
                  <a:srgbClr val="263238"/>
                </a:solidFill>
              </a:rPr>
              <a:t>Presenter notes</a:t>
            </a:r>
            <a:endParaRPr lang="en-US" sz="1200"/>
          </a:p>
          <a:p>
            <a:pPr/>
            <a:r>
              <a:rPr lang="en-US" sz="1200">
                <a:solidFill>
                  <a:srgbClr val="263238"/>
                </a:solidFill>
              </a:rPr>
              <a:t>Explain FastAPI routing clearly. The main app mounts the PDF router with prefix /api/pdf, so /compress becomes /api/pdf/compress. Uploaded files are validated, saved temporarily, processed, returned, and then cleaned.</a:t>
            </a:r>
            <a:endParaRPr lang="en-US" sz="12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/>
        </p:nvSpPr>
        <p:spPr>
          <a:xfrm>
            <a:off x="594360" y="4892040"/>
            <a:ext cx="5486400" cy="1828800"/>
          </a:xfrm>
          <a:prstGeom prst="rect">
            <a:avLst/>
          </a:prstGeom>
          <a:noFill/>
          <a:ln>
            <a:noFill/>
          </a:ln>
        </p:spPr>
        <p:txBody>
          <a:bodyPr wrap="square" anchor="t" lIns="137160" tIns="91440" rIns="137160" bIns="91440"/>
          <a:lstStyle/>
          <a:p>
            <a:pPr/>
            <a:r>
              <a:rPr lang="en-US" sz="1200" b="1">
                <a:solidFill>
                  <a:srgbClr val="263238"/>
                </a:solidFill>
              </a:rPr>
              <a:t>Presenter notes</a:t>
            </a:r>
            <a:endParaRPr lang="en-US" sz="1200"/>
          </a:p>
          <a:p>
            <a:pPr/>
            <a:r>
              <a:rPr lang="en-US" sz="1200">
                <a:solidFill>
                  <a:srgbClr val="263238"/>
                </a:solidFill>
              </a:rPr>
              <a:t>Explain that frontend and backend are separate deployments. The browser loads React from Vercel, then calls the Render API over HTTPS. CORS is required because these are different origins.</a:t>
            </a:r>
            <a:endParaRPr lang="en-US" sz="12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/>
        </p:nvSpPr>
        <p:spPr>
          <a:xfrm>
            <a:off x="594360" y="4892040"/>
            <a:ext cx="5486400" cy="1828800"/>
          </a:xfrm>
          <a:prstGeom prst="rect">
            <a:avLst/>
          </a:prstGeom>
          <a:noFill/>
          <a:ln>
            <a:noFill/>
          </a:ln>
        </p:spPr>
        <p:txBody>
          <a:bodyPr wrap="square" anchor="t" lIns="137160" tIns="91440" rIns="137160" bIns="91440"/>
          <a:lstStyle/>
          <a:p>
            <a:pPr/>
            <a:r>
              <a:rPr lang="en-US" sz="1200" b="1">
                <a:solidFill>
                  <a:srgbClr val="263238"/>
                </a:solidFill>
              </a:rPr>
              <a:t>Presenter notes</a:t>
            </a:r>
            <a:endParaRPr lang="en-US" sz="1200"/>
          </a:p>
          <a:p>
            <a:pPr/>
            <a:r>
              <a:rPr lang="en-US" sz="1200">
                <a:solidFill>
                  <a:srgbClr val="263238"/>
                </a:solidFill>
              </a:rPr>
              <a:t>Describe obstacles factually. The most important learning was that deployment platforms only run what is configured, so build/start commands, root directory and app import path must match the real backend.</a:t>
            </a:r>
            <a:endParaRPr lang="en-US" sz="12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/>
        </p:nvSpPr>
        <p:spPr>
          <a:xfrm>
            <a:off x="594360" y="4892040"/>
            <a:ext cx="5486400" cy="1828800"/>
          </a:xfrm>
          <a:prstGeom prst="rect">
            <a:avLst/>
          </a:prstGeom>
          <a:noFill/>
          <a:ln>
            <a:noFill/>
          </a:ln>
        </p:spPr>
        <p:txBody>
          <a:bodyPr wrap="square" anchor="t" lIns="137160" tIns="91440" rIns="137160" bIns="91440"/>
          <a:lstStyle/>
          <a:p>
            <a:pPr/>
            <a:r>
              <a:rPr lang="en-US" sz="1200" b="1">
                <a:solidFill>
                  <a:srgbClr val="263238"/>
                </a:solidFill>
              </a:rPr>
              <a:t>Presenter notes</a:t>
            </a:r>
            <a:endParaRPr lang="en-US" sz="1200"/>
          </a:p>
          <a:p>
            <a:pPr/>
            <a:r>
              <a:rPr lang="en-US" sz="1200">
                <a:solidFill>
                  <a:srgbClr val="263238"/>
                </a:solidFill>
              </a:rPr>
              <a:t>Explain the Node/Express conflict: Render can detect Node if package files exist or if the wrong root is selected. Then /health may hit an Express/default service or no matching route. The fix was to remove the conflicting backend path and explicitly configure Python FastAPI with Uvicorn.</a:t>
            </a:r>
            <a:endParaRPr lang="en-US" sz="12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/>
        </p:nvSpPr>
        <p:spPr>
          <a:xfrm>
            <a:off x="594360" y="4892040"/>
            <a:ext cx="5486400" cy="1828800"/>
          </a:xfrm>
          <a:prstGeom prst="rect">
            <a:avLst/>
          </a:prstGeom>
          <a:noFill/>
          <a:ln>
            <a:noFill/>
          </a:ln>
        </p:spPr>
        <p:txBody>
          <a:bodyPr wrap="square" anchor="t" lIns="137160" tIns="91440" rIns="137160" bIns="91440"/>
          <a:lstStyle/>
          <a:p>
            <a:pPr/>
            <a:r>
              <a:rPr lang="en-US" sz="1200" b="1">
                <a:solidFill>
                  <a:srgbClr val="263238"/>
                </a:solidFill>
              </a:rPr>
              <a:t>Presenter notes</a:t>
            </a:r>
            <a:endParaRPr lang="en-US" sz="1200"/>
          </a:p>
          <a:p>
            <a:pPr/>
            <a:r>
              <a:rPr lang="en-US" sz="1200">
                <a:solidFill>
                  <a:srgbClr val="263238"/>
                </a:solidFill>
              </a:rPr>
              <a:t>Mention practical outcomes: public web interface, deployed API, functioning PDF outputs, and smoke tests that validate production after deployment.</a:t>
            </a:r>
            <a:endParaRPr lang="en-US" sz="12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/>
        </p:nvSpPr>
        <p:spPr>
          <a:xfrm>
            <a:off x="594360" y="4892040"/>
            <a:ext cx="5486400" cy="1828800"/>
          </a:xfrm>
          <a:prstGeom prst="rect">
            <a:avLst/>
          </a:prstGeom>
          <a:noFill/>
          <a:ln>
            <a:noFill/>
          </a:ln>
        </p:spPr>
        <p:txBody>
          <a:bodyPr wrap="square" anchor="t" lIns="137160" tIns="91440" rIns="137160" bIns="91440"/>
          <a:lstStyle/>
          <a:p>
            <a:pPr/>
            <a:r>
              <a:rPr lang="en-US" sz="1200" b="1">
                <a:solidFill>
                  <a:srgbClr val="263238"/>
                </a:solidFill>
              </a:rPr>
              <a:t>Presenter notes</a:t>
            </a:r>
            <a:endParaRPr lang="en-US" sz="1200"/>
          </a:p>
          <a:p>
            <a:pPr/>
            <a:r>
              <a:rPr lang="en-US" sz="1200">
                <a:solidFill>
                  <a:srgbClr val="263238"/>
                </a:solidFill>
              </a:rPr>
              <a:t>Use this slide to show engineering maturity: not just building features, but diagnosing platform errors, validating routes, and separating frontend/backend responsibilities.</a:t>
            </a:r>
            <a:endParaRPr lang="en-US" sz="12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/>
        </p:nvSpPr>
        <p:spPr>
          <a:xfrm>
            <a:off x="594360" y="4892040"/>
            <a:ext cx="5486400" cy="1828800"/>
          </a:xfrm>
          <a:prstGeom prst="rect">
            <a:avLst/>
          </a:prstGeom>
          <a:noFill/>
          <a:ln>
            <a:noFill/>
          </a:ln>
        </p:spPr>
        <p:txBody>
          <a:bodyPr wrap="square" anchor="t" lIns="137160" tIns="91440" rIns="137160" bIns="91440"/>
          <a:lstStyle/>
          <a:p>
            <a:pPr/>
            <a:r>
              <a:rPr lang="en-US" sz="1200" b="1">
                <a:solidFill>
                  <a:srgbClr val="263238"/>
                </a:solidFill>
              </a:rPr>
              <a:t>Presenter notes</a:t>
            </a:r>
            <a:endParaRPr lang="en-US" sz="1200"/>
          </a:p>
          <a:p>
            <a:pPr/>
            <a:r>
              <a:rPr lang="en-US" sz="1200">
                <a:solidFill>
                  <a:srgbClr val="263238"/>
                </a:solidFill>
              </a:rPr>
              <a:t>Frame these as realistic next steps. Explain that current implementation is suitable for BTP scope, while larger-scale production would need queues, storage, authentication, and monitoring.</a:t>
            </a:r>
            <a:endParaRPr lang="en-US" sz="12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/>
        </p:nvSpPr>
        <p:spPr>
          <a:xfrm>
            <a:off x="594360" y="4892040"/>
            <a:ext cx="5486400" cy="1828800"/>
          </a:xfrm>
          <a:prstGeom prst="rect">
            <a:avLst/>
          </a:prstGeom>
          <a:noFill/>
          <a:ln>
            <a:noFill/>
          </a:ln>
        </p:spPr>
        <p:txBody>
          <a:bodyPr wrap="square" anchor="t" lIns="137160" tIns="91440" rIns="137160" bIns="91440"/>
          <a:lstStyle/>
          <a:p>
            <a:pPr/>
            <a:r>
              <a:rPr lang="en-US" sz="1200" b="1">
                <a:solidFill>
                  <a:srgbClr val="263238"/>
                </a:solidFill>
              </a:rPr>
              <a:t>Presenter notes</a:t>
            </a:r>
            <a:endParaRPr lang="en-US" sz="1200"/>
          </a:p>
          <a:p>
            <a:pPr/>
            <a:r>
              <a:rPr lang="en-US" sz="1200">
                <a:solidFill>
                  <a:srgbClr val="263238"/>
                </a:solidFill>
              </a:rPr>
              <a:t>Conclude that the project satisfies both functionality and engineering objectives: usable tools, clean architecture, deployed services, API documentation and production verification.</a:t>
            </a:r>
            <a:endParaRPr lang="en-US" sz="12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/>
        </p:nvSpPr>
        <p:spPr>
          <a:xfrm>
            <a:off x="594360" y="4892040"/>
            <a:ext cx="5486400" cy="1828800"/>
          </a:xfrm>
          <a:prstGeom prst="rect">
            <a:avLst/>
          </a:prstGeom>
          <a:noFill/>
          <a:ln>
            <a:noFill/>
          </a:ln>
        </p:spPr>
        <p:txBody>
          <a:bodyPr wrap="square" anchor="t" lIns="137160" tIns="91440" rIns="137160" bIns="91440"/>
          <a:lstStyle/>
          <a:p>
            <a:pPr/>
            <a:r>
              <a:rPr lang="en-US" sz="1200" b="1">
                <a:solidFill>
                  <a:srgbClr val="263238"/>
                </a:solidFill>
              </a:rPr>
              <a:t>Presenter notes</a:t>
            </a:r>
            <a:endParaRPr lang="en-US" sz="1200"/>
          </a:p>
          <a:p>
            <a:pPr/>
            <a:r>
              <a:rPr lang="en-US" sz="1200">
                <a:solidFill>
                  <a:srgbClr val="263238"/>
                </a:solidFill>
              </a:rPr>
              <a:t>During the demo, keep one reliable sample PDF ready. Show one fast feature first, such as compress or watermark, then show Swagger docs if time allows.</a:t>
            </a:r>
            <a:endParaRPr lang="en-US" sz="12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/>
        </p:nvSpPr>
        <p:spPr>
          <a:xfrm>
            <a:off x="594360" y="4892040"/>
            <a:ext cx="5486400" cy="1828800"/>
          </a:xfrm>
          <a:prstGeom prst="rect">
            <a:avLst/>
          </a:prstGeom>
          <a:noFill/>
          <a:ln>
            <a:noFill/>
          </a:ln>
        </p:spPr>
        <p:txBody>
          <a:bodyPr wrap="square" anchor="t" lIns="137160" tIns="91440" rIns="137160" bIns="91440"/>
          <a:lstStyle/>
          <a:p>
            <a:pPr/>
            <a:r>
              <a:rPr lang="en-US" sz="1200" b="1">
                <a:solidFill>
                  <a:srgbClr val="263238"/>
                </a:solidFill>
              </a:rPr>
              <a:t>Presenter notes</a:t>
            </a:r>
            <a:endParaRPr lang="en-US" sz="1200"/>
          </a:p>
          <a:p>
            <a:pPr/>
            <a:r>
              <a:rPr lang="en-US" sz="1200">
                <a:solidFill>
                  <a:srgbClr val="263238"/>
                </a:solidFill>
              </a:rPr>
              <a:t>Replace the placeholders with actual screenshots from your deployed frontend and Render backend before final submission. Use this slide if internet is slow during the live demo.</a:t>
            </a:r>
            <a:endParaRPr lang="en-US" sz="12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/>
        </p:nvSpPr>
        <p:spPr>
          <a:xfrm>
            <a:off x="594360" y="4892040"/>
            <a:ext cx="5486400" cy="1828800"/>
          </a:xfrm>
          <a:prstGeom prst="rect">
            <a:avLst/>
          </a:prstGeom>
          <a:noFill/>
          <a:ln>
            <a:noFill/>
          </a:ln>
        </p:spPr>
        <p:txBody>
          <a:bodyPr wrap="square" anchor="t" lIns="137160" tIns="91440" rIns="137160" bIns="91440"/>
          <a:lstStyle/>
          <a:p>
            <a:pPr/>
            <a:r>
              <a:rPr lang="en-US" sz="1200" b="1">
                <a:solidFill>
                  <a:srgbClr val="263238"/>
                </a:solidFill>
              </a:rPr>
              <a:t>Presenter notes</a:t>
            </a:r>
            <a:endParaRPr lang="en-US" sz="1200"/>
          </a:p>
          <a:p>
            <a:pPr/>
            <a:r>
              <a:rPr lang="en-US" sz="1200">
                <a:solidFill>
                  <a:srgbClr val="263238"/>
                </a:solidFill>
              </a:rPr>
              <a:t>Explain that FastAPI automatically generates /docs from route definitions and type hints. This makes backend validation transparent and helps test endpoints without manually writing a client.</a:t>
            </a:r>
            <a:endParaRPr lang="en-US" sz="12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/>
        </p:nvSpPr>
        <p:spPr>
          <a:xfrm>
            <a:off x="594360" y="4892040"/>
            <a:ext cx="5486400" cy="1828800"/>
          </a:xfrm>
          <a:prstGeom prst="rect">
            <a:avLst/>
          </a:prstGeom>
          <a:noFill/>
          <a:ln>
            <a:noFill/>
          </a:ln>
        </p:spPr>
        <p:txBody>
          <a:bodyPr wrap="square" anchor="t" lIns="137160" tIns="91440" rIns="137160" bIns="91440"/>
          <a:lstStyle/>
          <a:p>
            <a:pPr/>
            <a:r>
              <a:rPr lang="en-US" sz="1200" b="1">
                <a:solidFill>
                  <a:srgbClr val="263238"/>
                </a:solidFill>
              </a:rPr>
              <a:t>Presenter notes</a:t>
            </a:r>
            <a:endParaRPr lang="en-US" sz="1200"/>
          </a:p>
          <a:p>
            <a:pPr/>
            <a:r>
              <a:rPr lang="en-US" sz="1200">
                <a:solidFill>
                  <a:srgbClr val="263238"/>
                </a:solidFill>
              </a:rPr>
              <a:t>Thank the panel and invite questions. Be ready to discuss CORS, deployment debugging, FastAPI routing, file uploads, and why backend processing was selected.</a:t>
            </a:r>
            <a:endParaRPr 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</p:sp>
      <p:sp>
        <p:nvSpPr>
          <p:cNvPr id="2" name="Title left"/>
          <p:cNvSpPr/>
          <p:nvPr/>
        </p:nvSpPr>
        <p:spPr>
          <a:xfrm>
            <a:off x="0" y="0"/>
            <a:ext cx="5806440" cy="6858000"/>
          </a:xfrm>
          <a:prstGeom prst="rect">
            <a:avLst/>
          </a:prstGeom>
          <a:solidFill>
            <a:srgbClr val="0B5CAD"/>
          </a:solidFill>
          <a:ln w="9525">
            <a:solidFill>
              <a:srgbClr val="0B5CAD"/>
            </a:solidFill>
          </a:ln>
        </p:spPr>
      </p:sp>
      <p:sp>
        <p:nvSpPr>
          <p:cNvPr id="3" name="Project title"/>
          <p:cNvSpPr txBox="1"/>
          <p:nvPr/>
        </p:nvSpPr>
        <p:spPr>
          <a:xfrm>
            <a:off x="548640" y="1143000"/>
            <a:ext cx="475488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 lIns="137160" tIns="91440" rIns="137160" bIns="91440"/>
          <a:lstStyle/>
          <a:p>
            <a:pPr/>
            <a:r>
              <a:rPr lang="en-US" sz="2900" b="1">
                <a:solidFill>
                  <a:srgbClr val="FFFFFF"/>
                </a:solidFill>
              </a:rPr>
              <a:t>PDF Toolkit</a:t>
            </a:r>
            <a:endParaRPr lang="en-US" sz="2900"/>
          </a:p>
          <a:p>
            <a:pPr/>
            <a:r>
              <a:rPr lang="en-US" sz="2900">
                <a:solidFill>
                  <a:srgbClr val="FFFFFF"/>
                </a:solidFill>
              </a:rPr>
              <a:t>A Web-Based PDF Processing Platform</a:t>
            </a:r>
            <a:endParaRPr lang="en-US" sz="2900"/>
          </a:p>
        </p:txBody>
      </p:sp>
      <p:sp>
        <p:nvSpPr>
          <p:cNvPr id="4" name="Title bullets"/>
          <p:cNvSpPr txBox="1"/>
          <p:nvPr/>
        </p:nvSpPr>
        <p:spPr>
          <a:xfrm>
            <a:off x="685800" y="2788920"/>
            <a:ext cx="4480560" cy="1737360"/>
          </a:xfrm>
          <a:prstGeom prst="rect">
            <a:avLst/>
          </a:prstGeom>
          <a:noFill/>
          <a:ln>
            <a:noFill/>
          </a:ln>
        </p:spPr>
        <p:txBody>
          <a:bodyPr wrap="square" anchor="t" lIns="137160" tIns="91440" rIns="137160" bIns="91440"/>
          <a:lstStyle/>
          <a:p>
            <a:pPr/>
            <a:r>
              <a:rPr lang="en-US" sz="1700">
                <a:solidFill>
                  <a:srgbClr val="EAF3FF"/>
                </a:solidFill>
              </a:rPr>
              <a:t>BTP Presentation</a:t>
            </a:r>
            <a:endParaRPr lang="en-US" sz="1700"/>
          </a:p>
          <a:p>
            <a:pPr marL="285750" indent="-171450">
              <a:buChar char="•"/>
            </a:pPr>
            <a:r>
              <a:rPr lang="en-US" sz="1700">
                <a:solidFill>
                  <a:srgbClr val="EAF3FF"/>
                </a:solidFill>
              </a:rPr>
              <a:t>React/Vite frontend + FastAPI backend</a:t>
            </a:r>
            <a:endParaRPr lang="en-US" sz="1700"/>
          </a:p>
          <a:p>
            <a:pPr marL="285750" indent="-171450">
              <a:buChar char="•"/>
            </a:pPr>
            <a:r>
              <a:rPr lang="en-US" sz="1700">
                <a:solidFill>
                  <a:srgbClr val="EAF3FF"/>
                </a:solidFill>
              </a:rPr>
              <a:t>Deployed with Vercel and Render</a:t>
            </a:r>
            <a:endParaRPr lang="en-US" sz="1700"/>
          </a:p>
        </p:txBody>
      </p:sp>
      <p:sp>
        <p:nvSpPr>
          <p:cNvPr id="40" name="Hero block"/>
          <p:cNvSpPr/>
          <p:nvPr/>
        </p:nvSpPr>
        <p:spPr>
          <a:xfrm>
            <a:off x="7223760" y="1051560"/>
            <a:ext cx="4023360" cy="4206240"/>
          </a:xfrm>
          <a:prstGeom prst="roundRect">
            <a:avLst/>
          </a:prstGeom>
          <a:solidFill>
            <a:srgbClr val="EAF3FF"/>
          </a:solidFill>
          <a:ln w="9525">
            <a:solidFill>
              <a:srgbClr val="B9D8F5"/>
            </a:solidFill>
          </a:ln>
        </p:spPr>
      </p:sp>
      <p:sp>
        <p:nvSpPr>
          <p:cNvPr id="41" name="Icon PDF"/>
          <p:cNvSpPr txBox="1"/>
          <p:nvPr/>
        </p:nvSpPr>
        <p:spPr>
          <a:xfrm>
            <a:off x="7726679" y="2240280"/>
            <a:ext cx="822960" cy="822960"/>
          </a:xfrm>
          <a:prstGeom prst="roundRect">
            <a:avLst/>
          </a:prstGeom>
          <a:solidFill>
            <a:srgbClr val="0B5CAD"/>
          </a:solidFill>
          <a:ln w="9525">
            <a:solidFill>
              <a:srgbClr val="0B5CAD"/>
            </a:solidFill>
          </a:ln>
        </p:spPr>
        <p:txBody>
          <a:bodyPr wrap="square" anchor="mid" lIns="137160" tIns="91440" rIns="137160" bIns="91440"/>
          <a:lstStyle/>
          <a:p>
            <a:pPr/>
            <a:r>
              <a:rPr lang="en-US" sz="1800" b="1">
                <a:solidFill>
                  <a:srgbClr val="FFFFFF"/>
                </a:solidFill>
              </a:rPr>
              <a:t>PDF</a:t>
            </a:r>
            <a:endParaRPr lang="en-US" sz="1800"/>
          </a:p>
        </p:txBody>
      </p:sp>
      <p:sp>
        <p:nvSpPr>
          <p:cNvPr id="42" name="Icon API"/>
          <p:cNvSpPr txBox="1"/>
          <p:nvPr/>
        </p:nvSpPr>
        <p:spPr>
          <a:xfrm>
            <a:off x="8778240" y="2240280"/>
            <a:ext cx="822960" cy="822960"/>
          </a:xfrm>
          <a:prstGeom prst="roundRect">
            <a:avLst/>
          </a:prstGeom>
          <a:solidFill>
            <a:srgbClr val="0B5CAD"/>
          </a:solidFill>
          <a:ln w="9525">
            <a:solidFill>
              <a:srgbClr val="0B5CAD"/>
            </a:solidFill>
          </a:ln>
        </p:spPr>
        <p:txBody>
          <a:bodyPr wrap="square" anchor="mid" lIns="137160" tIns="91440" rIns="137160" bIns="91440"/>
          <a:lstStyle/>
          <a:p>
            <a:pPr/>
            <a:r>
              <a:rPr lang="en-US" sz="1800" b="1">
                <a:solidFill>
                  <a:srgbClr val="FFFFFF"/>
                </a:solidFill>
              </a:rPr>
              <a:t>API</a:t>
            </a:r>
            <a:endParaRPr lang="en-US" sz="1800"/>
          </a:p>
        </p:txBody>
      </p:sp>
      <p:sp>
        <p:nvSpPr>
          <p:cNvPr id="43" name="Icon UI"/>
          <p:cNvSpPr txBox="1"/>
          <p:nvPr/>
        </p:nvSpPr>
        <p:spPr>
          <a:xfrm>
            <a:off x="9829800" y="2240280"/>
            <a:ext cx="822960" cy="822960"/>
          </a:xfrm>
          <a:prstGeom prst="roundRect">
            <a:avLst/>
          </a:prstGeom>
          <a:solidFill>
            <a:srgbClr val="0B5CAD"/>
          </a:solidFill>
          <a:ln w="9525">
            <a:solidFill>
              <a:srgbClr val="0B5CAD"/>
            </a:solidFill>
          </a:ln>
        </p:spPr>
        <p:txBody>
          <a:bodyPr wrap="square" anchor="mid" lIns="137160" tIns="91440" rIns="137160" bIns="91440"/>
          <a:lstStyle/>
          <a:p>
            <a:pPr/>
            <a:r>
              <a:rPr lang="en-US" sz="1800" b="1">
                <a:solidFill>
                  <a:srgbClr val="FFFFFF"/>
                </a:solidFill>
              </a:rPr>
              <a:t>UI</a:t>
            </a:r>
            <a:endParaRPr lang="en-US" sz="1800"/>
          </a:p>
        </p:txBody>
      </p:sp>
      <p:sp>
        <p:nvSpPr>
          <p:cNvPr id="45" name="Hero caption"/>
          <p:cNvSpPr txBox="1"/>
          <p:nvPr/>
        </p:nvSpPr>
        <p:spPr>
          <a:xfrm>
            <a:off x="7635240" y="3429000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mid" lIns="137160" tIns="91440" rIns="137160" bIns="91440"/>
          <a:lstStyle/>
          <a:p>
            <a:pPr/>
            <a:r>
              <a:rPr lang="en-US" sz="1600" b="1">
                <a:solidFill>
                  <a:srgbClr val="0B5CAD"/>
                </a:solidFill>
              </a:rPr>
              <a:t>Web PDF processing</a:t>
            </a:r>
            <a:endParaRPr lang="en-US" sz="1600"/>
          </a:p>
          <a:p>
            <a:pPr/>
            <a:r>
              <a:rPr lang="en-US" sz="1600">
                <a:solidFill>
                  <a:srgbClr val="0B5CAD"/>
                </a:solidFill>
              </a:rPr>
              <a:t>from upload to download</a:t>
            </a:r>
            <a:endParaRPr lang="en-US" sz="1600"/>
          </a:p>
        </p:txBody>
      </p:sp>
      <p:sp>
        <p:nvSpPr>
          <p:cNvPr id="900" name="Footer"/>
          <p:cNvSpPr txBox="1"/>
          <p:nvPr/>
        </p:nvSpPr>
        <p:spPr>
          <a:xfrm>
            <a:off x="457200" y="6428232"/>
            <a:ext cx="112471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 lIns="137160" tIns="91440" rIns="137160" bIns="91440"/>
          <a:lstStyle/>
          <a:p>
            <a:pPr/>
            <a:r>
              <a:rPr lang="en-US" sz="800">
                <a:solidFill>
                  <a:srgbClr val="6B7A90"/>
                </a:solidFill>
              </a:rPr>
              <a:t>01  |  PDF Toolkit - BTP Presentation</a:t>
            </a:r>
            <a:endParaRPr lang="en-US" sz="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</p:sp>
      <p:sp>
        <p:nvSpPr>
          <p:cNvPr id="2" name="Top blue band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5CAD"/>
          </a:solidFill>
          <a:ln w="9525">
            <a:solidFill>
              <a:srgbClr val="0B5CAD"/>
            </a:solidFill>
          </a:ln>
        </p:spPr>
      </p:sp>
      <p:sp>
        <p:nvSpPr>
          <p:cNvPr id="3" name="Slide title"/>
          <p:cNvSpPr txBox="1"/>
          <p:nvPr/>
        </p:nvSpPr>
        <p:spPr>
          <a:xfrm>
            <a:off x="411480" y="73152"/>
            <a:ext cx="86868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137160" tIns="91440" rIns="137160" bIns="91440"/>
          <a:lstStyle/>
          <a:p>
            <a:pPr/>
            <a:r>
              <a:rPr lang="en-US" sz="2100" b="1">
                <a:solidFill>
                  <a:srgbClr val="FFFFFF"/>
                </a:solidFill>
              </a:rPr>
              <a:t>Introduction</a:t>
            </a:r>
            <a:endParaRPr lang="en-US" sz="2100"/>
          </a:p>
        </p:txBody>
      </p:sp>
      <p:sp>
        <p:nvSpPr>
          <p:cNvPr id="4" name="Slide subtitle"/>
          <p:cNvSpPr txBox="1"/>
          <p:nvPr/>
        </p:nvSpPr>
        <p:spPr>
          <a:xfrm>
            <a:off x="9052560" y="109728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mid" lIns="137160" tIns="91440" rIns="137160" bIns="91440"/>
          <a:lstStyle/>
          <a:p>
            <a:pPr/>
            <a:r>
              <a:rPr lang="en-US" sz="1000">
                <a:solidFill>
                  <a:srgbClr val="EAF3FF"/>
                </a:solidFill>
              </a:rPr>
              <a:t>PDF Toolkit BTP</a:t>
            </a:r>
            <a:endParaRPr lang="en-US" sz="1000"/>
          </a:p>
        </p:txBody>
      </p:sp>
      <p:sp>
        <p:nvSpPr>
          <p:cNvPr id="10" name="Bullets"/>
          <p:cNvSpPr txBox="1"/>
          <p:nvPr/>
        </p:nvSpPr>
        <p:spPr>
          <a:xfrm>
            <a:off x="594360" y="1097280"/>
            <a:ext cx="10789920" cy="4480560"/>
          </a:xfrm>
          <a:prstGeom prst="rect">
            <a:avLst/>
          </a:prstGeom>
          <a:noFill/>
          <a:ln>
            <a:noFill/>
          </a:ln>
        </p:spPr>
        <p:txBody>
          <a:bodyPr wrap="square" anchor="t" lIns="137160" tIns="91440" rIns="137160" bIns="91440"/>
          <a:lstStyle/>
          <a:p>
            <a:pPr/>
            <a:r>
              <a:rPr lang="en-US" sz="1700" b="1">
                <a:solidFill>
                  <a:srgbClr val="263238"/>
                </a:solidFill>
              </a:rPr>
              <a:t>Key Points</a:t>
            </a:r>
            <a:endParaRPr lang="en-US" sz="1700"/>
          </a:p>
          <a:p>
            <a:pPr marL="285750" indent="-171450">
              <a:buChar char="•"/>
            </a:pPr>
            <a:r>
              <a:rPr lang="en-US" sz="1700">
                <a:solidFill>
                  <a:srgbClr val="263238"/>
                </a:solidFill>
              </a:rPr>
              <a:t>Browser-based toolkit for document processing</a:t>
            </a:r>
            <a:endParaRPr lang="en-US" sz="1700"/>
          </a:p>
          <a:p>
            <a:pPr marL="285750" indent="-171450">
              <a:buChar char="•"/>
            </a:pPr>
            <a:r>
              <a:rPr lang="en-US" sz="1700">
                <a:solidFill>
                  <a:srgbClr val="263238"/>
                </a:solidFill>
              </a:rPr>
              <a:t>Covers compression, conversion, merging, splitting, protection and watermarking</a:t>
            </a:r>
            <a:endParaRPr lang="en-US" sz="1700"/>
          </a:p>
          <a:p>
            <a:pPr marL="285750" indent="-171450">
              <a:buChar char="•"/>
            </a:pPr>
            <a:r>
              <a:rPr lang="en-US" sz="1700">
                <a:solidFill>
                  <a:srgbClr val="263238"/>
                </a:solidFill>
              </a:rPr>
              <a:t>Designed as a full-stack production-style project</a:t>
            </a:r>
            <a:endParaRPr lang="en-US" sz="1700"/>
          </a:p>
        </p:txBody>
      </p:sp>
      <p:sp>
        <p:nvSpPr>
          <p:cNvPr id="900" name="Footer"/>
          <p:cNvSpPr txBox="1"/>
          <p:nvPr/>
        </p:nvSpPr>
        <p:spPr>
          <a:xfrm>
            <a:off x="457200" y="6428232"/>
            <a:ext cx="112471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 lIns="137160" tIns="91440" rIns="137160" bIns="91440"/>
          <a:lstStyle/>
          <a:p>
            <a:pPr/>
            <a:r>
              <a:rPr lang="en-US" sz="800">
                <a:solidFill>
                  <a:srgbClr val="6B7A90"/>
                </a:solidFill>
              </a:rPr>
              <a:t>02  |  PDF Toolkit - BTP Presentation</a:t>
            </a:r>
            <a:endParaRPr lang="en-US" sz="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</p:sp>
      <p:sp>
        <p:nvSpPr>
          <p:cNvPr id="2" name="Top blue band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5CAD"/>
          </a:solidFill>
          <a:ln w="9525">
            <a:solidFill>
              <a:srgbClr val="0B5CAD"/>
            </a:solidFill>
          </a:ln>
        </p:spPr>
      </p:sp>
      <p:sp>
        <p:nvSpPr>
          <p:cNvPr id="3" name="Slide title"/>
          <p:cNvSpPr txBox="1"/>
          <p:nvPr/>
        </p:nvSpPr>
        <p:spPr>
          <a:xfrm>
            <a:off x="411480" y="73152"/>
            <a:ext cx="86868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137160" tIns="91440" rIns="137160" bIns="91440"/>
          <a:lstStyle/>
          <a:p>
            <a:pPr/>
            <a:r>
              <a:rPr lang="en-US" sz="2100" b="1">
                <a:solidFill>
                  <a:srgbClr val="FFFFFF"/>
                </a:solidFill>
              </a:rPr>
              <a:t>Problem Statement</a:t>
            </a:r>
            <a:endParaRPr lang="en-US" sz="2100"/>
          </a:p>
        </p:txBody>
      </p:sp>
      <p:sp>
        <p:nvSpPr>
          <p:cNvPr id="4" name="Slide subtitle"/>
          <p:cNvSpPr txBox="1"/>
          <p:nvPr/>
        </p:nvSpPr>
        <p:spPr>
          <a:xfrm>
            <a:off x="9052560" y="109728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mid" lIns="137160" tIns="91440" rIns="137160" bIns="91440"/>
          <a:lstStyle/>
          <a:p>
            <a:pPr/>
            <a:r>
              <a:rPr lang="en-US" sz="1000">
                <a:solidFill>
                  <a:srgbClr val="EAF3FF"/>
                </a:solidFill>
              </a:rPr>
              <a:t>PDF Toolkit BTP</a:t>
            </a:r>
            <a:endParaRPr lang="en-US" sz="1000"/>
          </a:p>
        </p:txBody>
      </p:sp>
      <p:sp>
        <p:nvSpPr>
          <p:cNvPr id="10" name="Bullets"/>
          <p:cNvSpPr txBox="1"/>
          <p:nvPr/>
        </p:nvSpPr>
        <p:spPr>
          <a:xfrm>
            <a:off x="594360" y="1097280"/>
            <a:ext cx="10789920" cy="4480560"/>
          </a:xfrm>
          <a:prstGeom prst="rect">
            <a:avLst/>
          </a:prstGeom>
          <a:noFill/>
          <a:ln>
            <a:noFill/>
          </a:ln>
        </p:spPr>
        <p:txBody>
          <a:bodyPr wrap="square" anchor="t" lIns="137160" tIns="91440" rIns="137160" bIns="91440"/>
          <a:lstStyle/>
          <a:p>
            <a:pPr/>
            <a:r>
              <a:rPr lang="en-US" sz="1700" b="1">
                <a:solidFill>
                  <a:srgbClr val="263238"/>
                </a:solidFill>
              </a:rPr>
              <a:t>Key Points</a:t>
            </a:r>
            <a:endParaRPr lang="en-US" sz="1700"/>
          </a:p>
          <a:p>
            <a:pPr marL="285750" indent="-171450">
              <a:buChar char="•"/>
            </a:pPr>
            <a:r>
              <a:rPr lang="en-US" sz="1700">
                <a:solidFill>
                  <a:srgbClr val="263238"/>
                </a:solidFill>
              </a:rPr>
              <a:t>Users rely on multiple third-party tools for simple PDF tasks</a:t>
            </a:r>
            <a:endParaRPr lang="en-US" sz="1700"/>
          </a:p>
          <a:p>
            <a:pPr marL="285750" indent="-171450">
              <a:buChar char="•"/>
            </a:pPr>
            <a:r>
              <a:rPr lang="en-US" sz="1700">
                <a:solidFill>
                  <a:srgbClr val="263238"/>
                </a:solidFill>
              </a:rPr>
              <a:t>Online tools may create privacy, size, and reliability concerns</a:t>
            </a:r>
            <a:endParaRPr lang="en-US" sz="1700"/>
          </a:p>
          <a:p>
            <a:pPr marL="285750" indent="-171450">
              <a:buChar char="•"/>
            </a:pPr>
            <a:r>
              <a:rPr lang="en-US" sz="1700">
                <a:solidFill>
                  <a:srgbClr val="263238"/>
                </a:solidFill>
              </a:rPr>
              <a:t>A single academic project should demonstrate complete frontend, backend and deployment flow</a:t>
            </a:r>
            <a:endParaRPr lang="en-US" sz="1700"/>
          </a:p>
        </p:txBody>
      </p:sp>
      <p:sp>
        <p:nvSpPr>
          <p:cNvPr id="900" name="Footer"/>
          <p:cNvSpPr txBox="1"/>
          <p:nvPr/>
        </p:nvSpPr>
        <p:spPr>
          <a:xfrm>
            <a:off x="457200" y="6428232"/>
            <a:ext cx="112471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 lIns="137160" tIns="91440" rIns="137160" bIns="91440"/>
          <a:lstStyle/>
          <a:p>
            <a:pPr/>
            <a:r>
              <a:rPr lang="en-US" sz="800">
                <a:solidFill>
                  <a:srgbClr val="6B7A90"/>
                </a:solidFill>
              </a:rPr>
              <a:t>03  |  PDF Toolkit - BTP Presentation</a:t>
            </a:r>
            <a:endParaRPr lang="en-US" sz="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</p:sp>
      <p:sp>
        <p:nvSpPr>
          <p:cNvPr id="2" name="Top blue band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5CAD"/>
          </a:solidFill>
          <a:ln w="9525">
            <a:solidFill>
              <a:srgbClr val="0B5CAD"/>
            </a:solidFill>
          </a:ln>
        </p:spPr>
      </p:sp>
      <p:sp>
        <p:nvSpPr>
          <p:cNvPr id="3" name="Slide title"/>
          <p:cNvSpPr txBox="1"/>
          <p:nvPr/>
        </p:nvSpPr>
        <p:spPr>
          <a:xfrm>
            <a:off x="411480" y="73152"/>
            <a:ext cx="86868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137160" tIns="91440" rIns="137160" bIns="91440"/>
          <a:lstStyle/>
          <a:p>
            <a:pPr/>
            <a:r>
              <a:rPr lang="en-US" sz="2100" b="1">
                <a:solidFill>
                  <a:srgbClr val="FFFFFF"/>
                </a:solidFill>
              </a:rPr>
              <a:t>Project Objectives</a:t>
            </a:r>
            <a:endParaRPr lang="en-US" sz="2100"/>
          </a:p>
        </p:txBody>
      </p:sp>
      <p:sp>
        <p:nvSpPr>
          <p:cNvPr id="4" name="Slide subtitle"/>
          <p:cNvSpPr txBox="1"/>
          <p:nvPr/>
        </p:nvSpPr>
        <p:spPr>
          <a:xfrm>
            <a:off x="9052560" y="109728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mid" lIns="137160" tIns="91440" rIns="137160" bIns="91440"/>
          <a:lstStyle/>
          <a:p>
            <a:pPr/>
            <a:r>
              <a:rPr lang="en-US" sz="1000">
                <a:solidFill>
                  <a:srgbClr val="EAF3FF"/>
                </a:solidFill>
              </a:rPr>
              <a:t>PDF Toolkit BTP</a:t>
            </a:r>
            <a:endParaRPr lang="en-US" sz="1000"/>
          </a:p>
        </p:txBody>
      </p:sp>
      <p:sp>
        <p:nvSpPr>
          <p:cNvPr id="10" name="Bullets"/>
          <p:cNvSpPr txBox="1"/>
          <p:nvPr/>
        </p:nvSpPr>
        <p:spPr>
          <a:xfrm>
            <a:off x="594360" y="1097280"/>
            <a:ext cx="10789920" cy="4480560"/>
          </a:xfrm>
          <a:prstGeom prst="rect">
            <a:avLst/>
          </a:prstGeom>
          <a:noFill/>
          <a:ln>
            <a:noFill/>
          </a:ln>
        </p:spPr>
        <p:txBody>
          <a:bodyPr wrap="square" anchor="t" lIns="137160" tIns="91440" rIns="137160" bIns="91440"/>
          <a:lstStyle/>
          <a:p>
            <a:pPr/>
            <a:r>
              <a:rPr lang="en-US" sz="1700" b="1">
                <a:solidFill>
                  <a:srgbClr val="263238"/>
                </a:solidFill>
              </a:rPr>
              <a:t>Key Points</a:t>
            </a:r>
            <a:endParaRPr lang="en-US" sz="1700"/>
          </a:p>
          <a:p>
            <a:pPr marL="285750" indent="-171450">
              <a:buChar char="•"/>
            </a:pPr>
            <a:r>
              <a:rPr lang="en-US" sz="1700">
                <a:solidFill>
                  <a:srgbClr val="263238"/>
                </a:solidFill>
              </a:rPr>
              <a:t>Provide nine practical PDF utilities from one interface</a:t>
            </a:r>
            <a:endParaRPr lang="en-US" sz="1700"/>
          </a:p>
          <a:p>
            <a:pPr marL="285750" indent="-171450">
              <a:buChar char="•"/>
            </a:pPr>
            <a:r>
              <a:rPr lang="en-US" sz="1700">
                <a:solidFill>
                  <a:srgbClr val="263238"/>
                </a:solidFill>
              </a:rPr>
              <a:t>Use REST APIs for clean frontend-backend separation</a:t>
            </a:r>
            <a:endParaRPr lang="en-US" sz="1700"/>
          </a:p>
          <a:p>
            <a:pPr marL="285750" indent="-171450">
              <a:buChar char="•"/>
            </a:pPr>
            <a:r>
              <a:rPr lang="en-US" sz="1700">
                <a:solidFill>
                  <a:srgbClr val="263238"/>
                </a:solidFill>
              </a:rPr>
              <a:t>Deploy frontend and backend publicly</a:t>
            </a:r>
            <a:endParaRPr lang="en-US" sz="1700"/>
          </a:p>
          <a:p>
            <a:pPr marL="285750" indent="-171450">
              <a:buChar char="•"/>
            </a:pPr>
            <a:r>
              <a:rPr lang="en-US" sz="1700">
                <a:solidFill>
                  <a:srgbClr val="263238"/>
                </a:solidFill>
              </a:rPr>
              <a:t>Handle CORS, routing, file validation, and production checks</a:t>
            </a:r>
            <a:endParaRPr lang="en-US" sz="1700"/>
          </a:p>
        </p:txBody>
      </p:sp>
      <p:sp>
        <p:nvSpPr>
          <p:cNvPr id="900" name="Footer"/>
          <p:cNvSpPr txBox="1"/>
          <p:nvPr/>
        </p:nvSpPr>
        <p:spPr>
          <a:xfrm>
            <a:off x="457200" y="6428232"/>
            <a:ext cx="112471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 lIns="137160" tIns="91440" rIns="137160" bIns="91440"/>
          <a:lstStyle/>
          <a:p>
            <a:pPr/>
            <a:r>
              <a:rPr lang="en-US" sz="800">
                <a:solidFill>
                  <a:srgbClr val="6B7A90"/>
                </a:solidFill>
              </a:rPr>
              <a:t>04  |  PDF Toolkit - BTP Presentation</a:t>
            </a:r>
            <a:endParaRPr lang="en-US" sz="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</p:sp>
      <p:sp>
        <p:nvSpPr>
          <p:cNvPr id="2" name="Top blue band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5CAD"/>
          </a:solidFill>
          <a:ln w="9525">
            <a:solidFill>
              <a:srgbClr val="0B5CAD"/>
            </a:solidFill>
          </a:ln>
        </p:spPr>
      </p:sp>
      <p:sp>
        <p:nvSpPr>
          <p:cNvPr id="3" name="Slide title"/>
          <p:cNvSpPr txBox="1"/>
          <p:nvPr/>
        </p:nvSpPr>
        <p:spPr>
          <a:xfrm>
            <a:off x="411480" y="73152"/>
            <a:ext cx="86868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137160" tIns="91440" rIns="137160" bIns="91440"/>
          <a:lstStyle/>
          <a:p>
            <a:pPr/>
            <a:r>
              <a:rPr lang="en-US" sz="2100" b="1">
                <a:solidFill>
                  <a:srgbClr val="FFFFFF"/>
                </a:solidFill>
              </a:rPr>
              <a:t>Features Implemented</a:t>
            </a:r>
            <a:endParaRPr lang="en-US" sz="2100"/>
          </a:p>
        </p:txBody>
      </p:sp>
      <p:sp>
        <p:nvSpPr>
          <p:cNvPr id="4" name="Slide subtitle"/>
          <p:cNvSpPr txBox="1"/>
          <p:nvPr/>
        </p:nvSpPr>
        <p:spPr>
          <a:xfrm>
            <a:off x="9052560" y="109728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mid" lIns="137160" tIns="91440" rIns="137160" bIns="91440"/>
          <a:lstStyle/>
          <a:p>
            <a:pPr/>
            <a:r>
              <a:rPr lang="en-US" sz="1000">
                <a:solidFill>
                  <a:srgbClr val="EAF3FF"/>
                </a:solidFill>
              </a:rPr>
              <a:t>PDF Toolkit BTP</a:t>
            </a:r>
            <a:endParaRPr lang="en-US" sz="1000"/>
          </a:p>
        </p:txBody>
      </p:sp>
      <p:sp>
        <p:nvSpPr>
          <p:cNvPr id="10" name="Bullets"/>
          <p:cNvSpPr txBox="1"/>
          <p:nvPr/>
        </p:nvSpPr>
        <p:spPr>
          <a:xfrm>
            <a:off x="594360" y="1097280"/>
            <a:ext cx="4846320" cy="4480560"/>
          </a:xfrm>
          <a:prstGeom prst="rect">
            <a:avLst/>
          </a:prstGeom>
          <a:noFill/>
          <a:ln>
            <a:noFill/>
          </a:ln>
        </p:spPr>
        <p:txBody>
          <a:bodyPr wrap="square" anchor="t" lIns="137160" tIns="91440" rIns="137160" bIns="91440"/>
          <a:lstStyle/>
          <a:p>
            <a:pPr/>
            <a:r>
              <a:rPr lang="en-US" sz="1700" b="1">
                <a:solidFill>
                  <a:srgbClr val="263238"/>
                </a:solidFill>
              </a:rPr>
              <a:t>Key Points</a:t>
            </a:r>
            <a:endParaRPr lang="en-US" sz="1700"/>
          </a:p>
          <a:p>
            <a:pPr marL="285750" indent="-171450">
              <a:buChar char="•"/>
            </a:pPr>
            <a:r>
              <a:rPr lang="en-US" sz="1700">
                <a:solidFill>
                  <a:srgbClr val="263238"/>
                </a:solidFill>
              </a:rPr>
              <a:t>Compress, merge, split, and rearrange pages</a:t>
            </a:r>
            <a:endParaRPr lang="en-US" sz="1700"/>
          </a:p>
          <a:p>
            <a:pPr marL="285750" indent="-171450">
              <a:buChar char="•"/>
            </a:pPr>
            <a:r>
              <a:rPr lang="en-US" sz="1700">
                <a:solidFill>
                  <a:srgbClr val="263238"/>
                </a:solidFill>
              </a:rPr>
              <a:t>Convert PDF to Word and PDF to images</a:t>
            </a:r>
            <a:endParaRPr lang="en-US" sz="1700"/>
          </a:p>
          <a:p>
            <a:pPr marL="285750" indent="-171450">
              <a:buChar char="•"/>
            </a:pPr>
            <a:r>
              <a:rPr lang="en-US" sz="1700">
                <a:solidFill>
                  <a:srgbClr val="263238"/>
                </a:solidFill>
              </a:rPr>
              <a:t>Convert images to PDF</a:t>
            </a:r>
            <a:endParaRPr lang="en-US" sz="1700"/>
          </a:p>
          <a:p>
            <a:pPr marL="285750" indent="-171450">
              <a:buChar char="•"/>
            </a:pPr>
            <a:r>
              <a:rPr lang="en-US" sz="1700">
                <a:solidFill>
                  <a:srgbClr val="263238"/>
                </a:solidFill>
              </a:rPr>
              <a:t>Watermark and password-protect PDF files</a:t>
            </a:r>
            <a:endParaRPr lang="en-US" sz="1700"/>
          </a:p>
        </p:txBody>
      </p:sp>
      <p:sp>
        <p:nvSpPr>
          <p:cNvPr id="40" name="Compress"/>
          <p:cNvSpPr txBox="1"/>
          <p:nvPr/>
        </p:nvSpPr>
        <p:spPr>
          <a:xfrm>
            <a:off x="6217920" y="1143000"/>
            <a:ext cx="1325880" cy="658368"/>
          </a:xfrm>
          <a:prstGeom prst="roundRect">
            <a:avLst/>
          </a:prstGeom>
          <a:solidFill>
            <a:srgbClr val="F4F9FF"/>
          </a:solidFill>
          <a:ln w="9525">
            <a:solidFill>
              <a:srgbClr val="8BBCE8"/>
            </a:solidFill>
          </a:ln>
        </p:spPr>
        <p:txBody>
          <a:bodyPr wrap="square" anchor="mid" lIns="137160" tIns="91440" rIns="137160" bIns="91440"/>
          <a:lstStyle/>
          <a:p>
            <a:pPr/>
            <a:r>
              <a:rPr lang="en-US" sz="1200" b="1">
                <a:solidFill>
                  <a:srgbClr val="0B5CAD"/>
                </a:solidFill>
              </a:rPr>
              <a:t>Compress</a:t>
            </a:r>
            <a:endParaRPr lang="en-US" sz="1200"/>
          </a:p>
        </p:txBody>
      </p:sp>
      <p:sp>
        <p:nvSpPr>
          <p:cNvPr id="41" name="Merge"/>
          <p:cNvSpPr txBox="1"/>
          <p:nvPr/>
        </p:nvSpPr>
        <p:spPr>
          <a:xfrm>
            <a:off x="7818120" y="1143000"/>
            <a:ext cx="1325880" cy="658368"/>
          </a:xfrm>
          <a:prstGeom prst="roundRect">
            <a:avLst/>
          </a:prstGeom>
          <a:solidFill>
            <a:srgbClr val="F4F9FF"/>
          </a:solidFill>
          <a:ln w="9525">
            <a:solidFill>
              <a:srgbClr val="8BBCE8"/>
            </a:solidFill>
          </a:ln>
        </p:spPr>
        <p:txBody>
          <a:bodyPr wrap="square" anchor="mid" lIns="137160" tIns="91440" rIns="137160" bIns="91440"/>
          <a:lstStyle/>
          <a:p>
            <a:pPr/>
            <a:r>
              <a:rPr lang="en-US" sz="1200" b="1">
                <a:solidFill>
                  <a:srgbClr val="0B5CAD"/>
                </a:solidFill>
              </a:rPr>
              <a:t>Merge</a:t>
            </a:r>
            <a:endParaRPr lang="en-US" sz="1200"/>
          </a:p>
        </p:txBody>
      </p:sp>
      <p:sp>
        <p:nvSpPr>
          <p:cNvPr id="42" name="Split"/>
          <p:cNvSpPr txBox="1"/>
          <p:nvPr/>
        </p:nvSpPr>
        <p:spPr>
          <a:xfrm>
            <a:off x="9418320" y="1143000"/>
            <a:ext cx="1325880" cy="658368"/>
          </a:xfrm>
          <a:prstGeom prst="roundRect">
            <a:avLst/>
          </a:prstGeom>
          <a:solidFill>
            <a:srgbClr val="F4F9FF"/>
          </a:solidFill>
          <a:ln w="9525">
            <a:solidFill>
              <a:srgbClr val="8BBCE8"/>
            </a:solidFill>
          </a:ln>
        </p:spPr>
        <p:txBody>
          <a:bodyPr wrap="square" anchor="mid" lIns="137160" tIns="91440" rIns="137160" bIns="91440"/>
          <a:lstStyle/>
          <a:p>
            <a:pPr/>
            <a:r>
              <a:rPr lang="en-US" sz="1200" b="1">
                <a:solidFill>
                  <a:srgbClr val="0B5CAD"/>
                </a:solidFill>
              </a:rPr>
              <a:t>Split</a:t>
            </a:r>
            <a:endParaRPr lang="en-US" sz="1200"/>
          </a:p>
        </p:txBody>
      </p:sp>
      <p:sp>
        <p:nvSpPr>
          <p:cNvPr id="43" name="Rearrange"/>
          <p:cNvSpPr txBox="1"/>
          <p:nvPr/>
        </p:nvSpPr>
        <p:spPr>
          <a:xfrm>
            <a:off x="6217920" y="2313432"/>
            <a:ext cx="1325880" cy="658368"/>
          </a:xfrm>
          <a:prstGeom prst="roundRect">
            <a:avLst/>
          </a:prstGeom>
          <a:solidFill>
            <a:srgbClr val="F4F9FF"/>
          </a:solidFill>
          <a:ln w="9525">
            <a:solidFill>
              <a:srgbClr val="8BBCE8"/>
            </a:solidFill>
          </a:ln>
        </p:spPr>
        <p:txBody>
          <a:bodyPr wrap="square" anchor="mid" lIns="137160" tIns="91440" rIns="137160" bIns="91440"/>
          <a:lstStyle/>
          <a:p>
            <a:pPr/>
            <a:r>
              <a:rPr lang="en-US" sz="1200" b="1">
                <a:solidFill>
                  <a:srgbClr val="0B5CAD"/>
                </a:solidFill>
              </a:rPr>
              <a:t>Rearrange</a:t>
            </a:r>
            <a:endParaRPr lang="en-US" sz="1200"/>
          </a:p>
        </p:txBody>
      </p:sp>
      <p:sp>
        <p:nvSpPr>
          <p:cNvPr id="44" name="PDF-&gt;Word"/>
          <p:cNvSpPr txBox="1"/>
          <p:nvPr/>
        </p:nvSpPr>
        <p:spPr>
          <a:xfrm>
            <a:off x="7818120" y="2313432"/>
            <a:ext cx="1325880" cy="658368"/>
          </a:xfrm>
          <a:prstGeom prst="roundRect">
            <a:avLst/>
          </a:prstGeom>
          <a:solidFill>
            <a:srgbClr val="F4F9FF"/>
          </a:solidFill>
          <a:ln w="9525">
            <a:solidFill>
              <a:srgbClr val="8BBCE8"/>
            </a:solidFill>
          </a:ln>
        </p:spPr>
        <p:txBody>
          <a:bodyPr wrap="square" anchor="mid" lIns="137160" tIns="91440" rIns="137160" bIns="91440"/>
          <a:lstStyle/>
          <a:p>
            <a:pPr/>
            <a:r>
              <a:rPr lang="en-US" sz="1200" b="1">
                <a:solidFill>
                  <a:srgbClr val="0B5CAD"/>
                </a:solidFill>
              </a:rPr>
              <a:t>PDF-&gt;Word</a:t>
            </a:r>
            <a:endParaRPr lang="en-US" sz="1200"/>
          </a:p>
        </p:txBody>
      </p:sp>
      <p:sp>
        <p:nvSpPr>
          <p:cNvPr id="45" name="PDF-&gt;Image"/>
          <p:cNvSpPr txBox="1"/>
          <p:nvPr/>
        </p:nvSpPr>
        <p:spPr>
          <a:xfrm>
            <a:off x="9418320" y="2313432"/>
            <a:ext cx="1325880" cy="658368"/>
          </a:xfrm>
          <a:prstGeom prst="roundRect">
            <a:avLst/>
          </a:prstGeom>
          <a:solidFill>
            <a:srgbClr val="F4F9FF"/>
          </a:solidFill>
          <a:ln w="9525">
            <a:solidFill>
              <a:srgbClr val="8BBCE8"/>
            </a:solidFill>
          </a:ln>
        </p:spPr>
        <p:txBody>
          <a:bodyPr wrap="square" anchor="mid" lIns="137160" tIns="91440" rIns="137160" bIns="91440"/>
          <a:lstStyle/>
          <a:p>
            <a:pPr/>
            <a:r>
              <a:rPr lang="en-US" sz="1200" b="1">
                <a:solidFill>
                  <a:srgbClr val="0B5CAD"/>
                </a:solidFill>
              </a:rPr>
              <a:t>PDF-&gt;Image</a:t>
            </a:r>
            <a:endParaRPr lang="en-US" sz="1200"/>
          </a:p>
        </p:txBody>
      </p:sp>
      <p:sp>
        <p:nvSpPr>
          <p:cNvPr id="46" name="Image-&gt;PDF"/>
          <p:cNvSpPr txBox="1"/>
          <p:nvPr/>
        </p:nvSpPr>
        <p:spPr>
          <a:xfrm>
            <a:off x="6217920" y="3483864"/>
            <a:ext cx="1325880" cy="658368"/>
          </a:xfrm>
          <a:prstGeom prst="roundRect">
            <a:avLst/>
          </a:prstGeom>
          <a:solidFill>
            <a:srgbClr val="F4F9FF"/>
          </a:solidFill>
          <a:ln w="9525">
            <a:solidFill>
              <a:srgbClr val="8BBCE8"/>
            </a:solidFill>
          </a:ln>
        </p:spPr>
        <p:txBody>
          <a:bodyPr wrap="square" anchor="mid" lIns="137160" tIns="91440" rIns="137160" bIns="91440"/>
          <a:lstStyle/>
          <a:p>
            <a:pPr/>
            <a:r>
              <a:rPr lang="en-US" sz="1200" b="1">
                <a:solidFill>
                  <a:srgbClr val="0B5CAD"/>
                </a:solidFill>
              </a:rPr>
              <a:t>Image-&gt;PDF</a:t>
            </a:r>
            <a:endParaRPr lang="en-US" sz="1200"/>
          </a:p>
        </p:txBody>
      </p:sp>
      <p:sp>
        <p:nvSpPr>
          <p:cNvPr id="47" name="Watermark"/>
          <p:cNvSpPr txBox="1"/>
          <p:nvPr/>
        </p:nvSpPr>
        <p:spPr>
          <a:xfrm>
            <a:off x="7818120" y="3483864"/>
            <a:ext cx="1325880" cy="658368"/>
          </a:xfrm>
          <a:prstGeom prst="roundRect">
            <a:avLst/>
          </a:prstGeom>
          <a:solidFill>
            <a:srgbClr val="F4F9FF"/>
          </a:solidFill>
          <a:ln w="9525">
            <a:solidFill>
              <a:srgbClr val="8BBCE8"/>
            </a:solidFill>
          </a:ln>
        </p:spPr>
        <p:txBody>
          <a:bodyPr wrap="square" anchor="mid" lIns="137160" tIns="91440" rIns="137160" bIns="91440"/>
          <a:lstStyle/>
          <a:p>
            <a:pPr/>
            <a:r>
              <a:rPr lang="en-US" sz="1200" b="1">
                <a:solidFill>
                  <a:srgbClr val="0B5CAD"/>
                </a:solidFill>
              </a:rPr>
              <a:t>Watermark</a:t>
            </a:r>
            <a:endParaRPr lang="en-US" sz="1200"/>
          </a:p>
        </p:txBody>
      </p:sp>
      <p:sp>
        <p:nvSpPr>
          <p:cNvPr id="48" name="Protect"/>
          <p:cNvSpPr txBox="1"/>
          <p:nvPr/>
        </p:nvSpPr>
        <p:spPr>
          <a:xfrm>
            <a:off x="9418320" y="3483864"/>
            <a:ext cx="1325880" cy="658368"/>
          </a:xfrm>
          <a:prstGeom prst="roundRect">
            <a:avLst/>
          </a:prstGeom>
          <a:solidFill>
            <a:srgbClr val="F4F9FF"/>
          </a:solidFill>
          <a:ln w="9525">
            <a:solidFill>
              <a:srgbClr val="8BBCE8"/>
            </a:solidFill>
          </a:ln>
        </p:spPr>
        <p:txBody>
          <a:bodyPr wrap="square" anchor="mid" lIns="137160" tIns="91440" rIns="137160" bIns="91440"/>
          <a:lstStyle/>
          <a:p>
            <a:pPr/>
            <a:r>
              <a:rPr lang="en-US" sz="1200" b="1">
                <a:solidFill>
                  <a:srgbClr val="0B5CAD"/>
                </a:solidFill>
              </a:rPr>
              <a:t>Protect</a:t>
            </a:r>
            <a:endParaRPr lang="en-US" sz="1200"/>
          </a:p>
        </p:txBody>
      </p:sp>
      <p:sp>
        <p:nvSpPr>
          <p:cNvPr id="900" name="Footer"/>
          <p:cNvSpPr txBox="1"/>
          <p:nvPr/>
        </p:nvSpPr>
        <p:spPr>
          <a:xfrm>
            <a:off x="457200" y="6428232"/>
            <a:ext cx="112471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 lIns="137160" tIns="91440" rIns="137160" bIns="91440"/>
          <a:lstStyle/>
          <a:p>
            <a:pPr/>
            <a:r>
              <a:rPr lang="en-US" sz="800">
                <a:solidFill>
                  <a:srgbClr val="6B7A90"/>
                </a:solidFill>
              </a:rPr>
              <a:t>05  |  PDF Toolkit - BTP Presentation</a:t>
            </a:r>
            <a:endParaRPr lang="en-US" sz="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</p:sp>
      <p:sp>
        <p:nvSpPr>
          <p:cNvPr id="2" name="Top blue band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5CAD"/>
          </a:solidFill>
          <a:ln w="9525">
            <a:solidFill>
              <a:srgbClr val="0B5CAD"/>
            </a:solidFill>
          </a:ln>
        </p:spPr>
      </p:sp>
      <p:sp>
        <p:nvSpPr>
          <p:cNvPr id="3" name="Slide title"/>
          <p:cNvSpPr txBox="1"/>
          <p:nvPr/>
        </p:nvSpPr>
        <p:spPr>
          <a:xfrm>
            <a:off x="411480" y="73152"/>
            <a:ext cx="86868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137160" tIns="91440" rIns="137160" bIns="91440"/>
          <a:lstStyle/>
          <a:p>
            <a:pPr/>
            <a:r>
              <a:rPr lang="en-US" sz="2100" b="1">
                <a:solidFill>
                  <a:srgbClr val="FFFFFF"/>
                </a:solidFill>
              </a:rPr>
              <a:t>Technology Stack</a:t>
            </a:r>
            <a:endParaRPr lang="en-US" sz="2100"/>
          </a:p>
        </p:txBody>
      </p:sp>
      <p:sp>
        <p:nvSpPr>
          <p:cNvPr id="4" name="Slide subtitle"/>
          <p:cNvSpPr txBox="1"/>
          <p:nvPr/>
        </p:nvSpPr>
        <p:spPr>
          <a:xfrm>
            <a:off x="9052560" y="109728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mid" lIns="137160" tIns="91440" rIns="137160" bIns="91440"/>
          <a:lstStyle/>
          <a:p>
            <a:pPr/>
            <a:r>
              <a:rPr lang="en-US" sz="1000">
                <a:solidFill>
                  <a:srgbClr val="EAF3FF"/>
                </a:solidFill>
              </a:rPr>
              <a:t>PDF Toolkit BTP</a:t>
            </a:r>
            <a:endParaRPr lang="en-US" sz="1000"/>
          </a:p>
        </p:txBody>
      </p:sp>
      <p:sp>
        <p:nvSpPr>
          <p:cNvPr id="10" name="Bullets"/>
          <p:cNvSpPr txBox="1"/>
          <p:nvPr/>
        </p:nvSpPr>
        <p:spPr>
          <a:xfrm>
            <a:off x="594360" y="1097280"/>
            <a:ext cx="4846320" cy="4480560"/>
          </a:xfrm>
          <a:prstGeom prst="rect">
            <a:avLst/>
          </a:prstGeom>
          <a:noFill/>
          <a:ln>
            <a:noFill/>
          </a:ln>
        </p:spPr>
        <p:txBody>
          <a:bodyPr wrap="square" anchor="t" lIns="137160" tIns="91440" rIns="137160" bIns="91440"/>
          <a:lstStyle/>
          <a:p>
            <a:pPr/>
            <a:r>
              <a:rPr lang="en-US" sz="1700" b="1">
                <a:solidFill>
                  <a:srgbClr val="263238"/>
                </a:solidFill>
              </a:rPr>
              <a:t>Key Points</a:t>
            </a:r>
            <a:endParaRPr lang="en-US" sz="1700"/>
          </a:p>
          <a:p>
            <a:pPr marL="285750" indent="-171450">
              <a:buChar char="•"/>
            </a:pPr>
            <a:r>
              <a:rPr lang="en-US" sz="1700">
                <a:solidFill>
                  <a:srgbClr val="263238"/>
                </a:solidFill>
              </a:rPr>
              <a:t>Frontend: React.js with Vite</a:t>
            </a:r>
            <a:endParaRPr lang="en-US" sz="1700"/>
          </a:p>
          <a:p>
            <a:pPr marL="285750" indent="-171450">
              <a:buChar char="•"/>
            </a:pPr>
            <a:r>
              <a:rPr lang="en-US" sz="1700">
                <a:solidFill>
                  <a:srgbClr val="263238"/>
                </a:solidFill>
              </a:rPr>
              <a:t>Backend: FastAPI, Uvicorn, Python</a:t>
            </a:r>
            <a:endParaRPr lang="en-US" sz="1700"/>
          </a:p>
          <a:p>
            <a:pPr marL="285750" indent="-171450">
              <a:buChar char="•"/>
            </a:pPr>
            <a:r>
              <a:rPr lang="en-US" sz="1700">
                <a:solidFill>
                  <a:srgbClr val="263238"/>
                </a:solidFill>
              </a:rPr>
              <a:t>PDF libraries: PyMuPDF and pypdf</a:t>
            </a:r>
            <a:endParaRPr lang="en-US" sz="1700"/>
          </a:p>
          <a:p>
            <a:pPr marL="285750" indent="-171450">
              <a:buChar char="•"/>
            </a:pPr>
            <a:r>
              <a:rPr lang="en-US" sz="1700">
                <a:solidFill>
                  <a:srgbClr val="263238"/>
                </a:solidFill>
              </a:rPr>
              <a:t>Deployment: Vercel for frontend, Render for backend</a:t>
            </a:r>
            <a:endParaRPr lang="en-US" sz="1700"/>
          </a:p>
        </p:txBody>
      </p:sp>
      <p:sp>
        <p:nvSpPr>
          <p:cNvPr id="40" name="React/Vite"/>
          <p:cNvSpPr txBox="1"/>
          <p:nvPr/>
        </p:nvSpPr>
        <p:spPr>
          <a:xfrm>
            <a:off x="6126480" y="1005840"/>
            <a:ext cx="4297680" cy="685800"/>
          </a:xfrm>
          <a:prstGeom prst="roundRect">
            <a:avLst/>
          </a:prstGeom>
          <a:solidFill>
            <a:srgbClr val="EAF3FF"/>
          </a:solidFill>
          <a:ln w="9525">
            <a:solidFill>
              <a:srgbClr val="0B5CAD"/>
            </a:solidFill>
          </a:ln>
        </p:spPr>
        <p:txBody>
          <a:bodyPr wrap="square" anchor="mid" lIns="137160" tIns="91440" rIns="137160" bIns="91440"/>
          <a:lstStyle/>
          <a:p>
            <a:pPr/>
            <a:r>
              <a:rPr lang="en-US" sz="1400" b="1">
                <a:solidFill>
                  <a:srgbClr val="0B5CAD"/>
                </a:solidFill>
              </a:rPr>
              <a:t>React/Vite</a:t>
            </a:r>
            <a:endParaRPr lang="en-US" sz="1400"/>
          </a:p>
          <a:p>
            <a:pPr/>
            <a:r>
              <a:rPr lang="en-US" sz="1400">
                <a:solidFill>
                  <a:srgbClr val="0B5CAD"/>
                </a:solidFill>
              </a:rPr>
              <a:t>Frontend</a:t>
            </a:r>
            <a:endParaRPr lang="en-US" sz="1400"/>
          </a:p>
        </p:txBody>
      </p:sp>
      <p:sp>
        <p:nvSpPr>
          <p:cNvPr id="41" name="FastAPI"/>
          <p:cNvSpPr txBox="1"/>
          <p:nvPr/>
        </p:nvSpPr>
        <p:spPr>
          <a:xfrm>
            <a:off x="6126480" y="1965960"/>
            <a:ext cx="4297680" cy="685800"/>
          </a:xfrm>
          <a:prstGeom prst="roundRect">
            <a:avLst/>
          </a:prstGeom>
          <a:solidFill>
            <a:srgbClr val="0B5CAD"/>
          </a:solidFill>
          <a:ln w="9525">
            <a:solidFill>
              <a:srgbClr val="0B5CAD"/>
            </a:solidFill>
          </a:ln>
        </p:spPr>
        <p:txBody>
          <a:bodyPr wrap="square" anchor="mid" lIns="137160" tIns="91440" rIns="137160" bIns="91440"/>
          <a:lstStyle/>
          <a:p>
            <a:pPr/>
            <a:r>
              <a:rPr lang="en-US" sz="1400" b="1">
                <a:solidFill>
                  <a:srgbClr val="FFFFFF"/>
                </a:solidFill>
              </a:rPr>
              <a:t>FastAPI</a:t>
            </a:r>
            <a:endParaRPr lang="en-US" sz="1400"/>
          </a:p>
          <a:p>
            <a:pPr/>
            <a:r>
              <a:rPr lang="en-US" sz="1400">
                <a:solidFill>
                  <a:srgbClr val="FFFFFF"/>
                </a:solidFill>
              </a:rPr>
              <a:t>Backend</a:t>
            </a:r>
            <a:endParaRPr lang="en-US" sz="1400"/>
          </a:p>
        </p:txBody>
      </p:sp>
      <p:sp>
        <p:nvSpPr>
          <p:cNvPr id="42" name="PyMuPDF + pypdf"/>
          <p:cNvSpPr txBox="1"/>
          <p:nvPr/>
        </p:nvSpPr>
        <p:spPr>
          <a:xfrm>
            <a:off x="6126480" y="2926080"/>
            <a:ext cx="4297680" cy="685800"/>
          </a:xfrm>
          <a:prstGeom prst="roundRect">
            <a:avLst/>
          </a:prstGeom>
          <a:solidFill>
            <a:srgbClr val="EAF3FF"/>
          </a:solidFill>
          <a:ln w="9525">
            <a:solidFill>
              <a:srgbClr val="0B5CAD"/>
            </a:solidFill>
          </a:ln>
        </p:spPr>
        <p:txBody>
          <a:bodyPr wrap="square" anchor="mid" lIns="137160" tIns="91440" rIns="137160" bIns="91440"/>
          <a:lstStyle/>
          <a:p>
            <a:pPr/>
            <a:r>
              <a:rPr lang="en-US" sz="1400" b="1">
                <a:solidFill>
                  <a:srgbClr val="0B5CAD"/>
                </a:solidFill>
              </a:rPr>
              <a:t>PyMuPDF + pypdf</a:t>
            </a:r>
            <a:endParaRPr lang="en-US" sz="1400"/>
          </a:p>
          <a:p>
            <a:pPr/>
            <a:r>
              <a:rPr lang="en-US" sz="1400">
                <a:solidFill>
                  <a:srgbClr val="0B5CAD"/>
                </a:solidFill>
              </a:rPr>
              <a:t>PDF Engine</a:t>
            </a:r>
            <a:endParaRPr lang="en-US" sz="1400"/>
          </a:p>
        </p:txBody>
      </p:sp>
      <p:sp>
        <p:nvSpPr>
          <p:cNvPr id="43" name="Vercel + Render"/>
          <p:cNvSpPr txBox="1"/>
          <p:nvPr/>
        </p:nvSpPr>
        <p:spPr>
          <a:xfrm>
            <a:off x="6126480" y="3886200"/>
            <a:ext cx="4297680" cy="685800"/>
          </a:xfrm>
          <a:prstGeom prst="roundRect">
            <a:avLst/>
          </a:prstGeom>
          <a:solidFill>
            <a:srgbClr val="EAF3FF"/>
          </a:solidFill>
          <a:ln w="9525">
            <a:solidFill>
              <a:srgbClr val="0B5CAD"/>
            </a:solidFill>
          </a:ln>
        </p:spPr>
        <p:txBody>
          <a:bodyPr wrap="square" anchor="mid" lIns="137160" tIns="91440" rIns="137160" bIns="91440"/>
          <a:lstStyle/>
          <a:p>
            <a:pPr/>
            <a:r>
              <a:rPr lang="en-US" sz="1400" b="1">
                <a:solidFill>
                  <a:srgbClr val="0B5CAD"/>
                </a:solidFill>
              </a:rPr>
              <a:t>Vercel + Render</a:t>
            </a:r>
            <a:endParaRPr lang="en-US" sz="1400"/>
          </a:p>
          <a:p>
            <a:pPr/>
            <a:r>
              <a:rPr lang="en-US" sz="1400">
                <a:solidFill>
                  <a:srgbClr val="0B5CAD"/>
                </a:solidFill>
              </a:rPr>
              <a:t>Deployment</a:t>
            </a:r>
            <a:endParaRPr lang="en-US" sz="1400"/>
          </a:p>
        </p:txBody>
      </p:sp>
      <p:sp>
        <p:nvSpPr>
          <p:cNvPr id="900" name="Footer"/>
          <p:cNvSpPr txBox="1"/>
          <p:nvPr/>
        </p:nvSpPr>
        <p:spPr>
          <a:xfrm>
            <a:off x="457200" y="6428232"/>
            <a:ext cx="112471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 lIns="137160" tIns="91440" rIns="137160" bIns="91440"/>
          <a:lstStyle/>
          <a:p>
            <a:pPr/>
            <a:r>
              <a:rPr lang="en-US" sz="800">
                <a:solidFill>
                  <a:srgbClr val="6B7A90"/>
                </a:solidFill>
              </a:rPr>
              <a:t>06  |  PDF Toolkit - BTP Presentation</a:t>
            </a:r>
            <a:endParaRPr lang="en-US" sz="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</p:sp>
      <p:sp>
        <p:nvSpPr>
          <p:cNvPr id="2" name="Top blue band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5CAD"/>
          </a:solidFill>
          <a:ln w="9525">
            <a:solidFill>
              <a:srgbClr val="0B5CAD"/>
            </a:solidFill>
          </a:ln>
        </p:spPr>
      </p:sp>
      <p:sp>
        <p:nvSpPr>
          <p:cNvPr id="3" name="Slide title"/>
          <p:cNvSpPr txBox="1"/>
          <p:nvPr/>
        </p:nvSpPr>
        <p:spPr>
          <a:xfrm>
            <a:off x="411480" y="73152"/>
            <a:ext cx="86868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137160" tIns="91440" rIns="137160" bIns="91440"/>
          <a:lstStyle/>
          <a:p>
            <a:pPr/>
            <a:r>
              <a:rPr lang="en-US" sz="2100" b="1">
                <a:solidFill>
                  <a:srgbClr val="FFFFFF"/>
                </a:solidFill>
              </a:rPr>
              <a:t>System Architecture</a:t>
            </a:r>
            <a:endParaRPr lang="en-US" sz="2100"/>
          </a:p>
        </p:txBody>
      </p:sp>
      <p:sp>
        <p:nvSpPr>
          <p:cNvPr id="4" name="Slide subtitle"/>
          <p:cNvSpPr txBox="1"/>
          <p:nvPr/>
        </p:nvSpPr>
        <p:spPr>
          <a:xfrm>
            <a:off x="9052560" y="109728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mid" lIns="137160" tIns="91440" rIns="137160" bIns="91440"/>
          <a:lstStyle/>
          <a:p>
            <a:pPr/>
            <a:r>
              <a:rPr lang="en-US" sz="1000">
                <a:solidFill>
                  <a:srgbClr val="EAF3FF"/>
                </a:solidFill>
              </a:rPr>
              <a:t>PDF Toolkit BTP</a:t>
            </a:r>
            <a:endParaRPr lang="en-US" sz="1000"/>
          </a:p>
        </p:txBody>
      </p:sp>
      <p:sp>
        <p:nvSpPr>
          <p:cNvPr id="10" name="Bullets"/>
          <p:cNvSpPr txBox="1"/>
          <p:nvPr/>
        </p:nvSpPr>
        <p:spPr>
          <a:xfrm>
            <a:off x="594360" y="1097280"/>
            <a:ext cx="4846320" cy="4480560"/>
          </a:xfrm>
          <a:prstGeom prst="rect">
            <a:avLst/>
          </a:prstGeom>
          <a:noFill/>
          <a:ln>
            <a:noFill/>
          </a:ln>
        </p:spPr>
        <p:txBody>
          <a:bodyPr wrap="square" anchor="t" lIns="137160" tIns="91440" rIns="137160" bIns="91440"/>
          <a:lstStyle/>
          <a:p>
            <a:pPr/>
            <a:r>
              <a:rPr lang="en-US" sz="1700" b="1">
                <a:solidFill>
                  <a:srgbClr val="263238"/>
                </a:solidFill>
              </a:rPr>
              <a:t>Key Points</a:t>
            </a:r>
            <a:endParaRPr lang="en-US" sz="1700"/>
          </a:p>
          <a:p>
            <a:pPr marL="285750" indent="-171450">
              <a:buChar char="•"/>
            </a:pPr>
            <a:r>
              <a:rPr lang="en-US" sz="1700">
                <a:solidFill>
                  <a:srgbClr val="263238"/>
                </a:solidFill>
              </a:rPr>
              <a:t>User selects a tool and uploads files in React</a:t>
            </a:r>
            <a:endParaRPr lang="en-US" sz="1700"/>
          </a:p>
          <a:p>
            <a:pPr marL="285750" indent="-171450">
              <a:buChar char="•"/>
            </a:pPr>
            <a:r>
              <a:rPr lang="en-US" sz="1700">
                <a:solidFill>
                  <a:srgbClr val="263238"/>
                </a:solidFill>
              </a:rPr>
              <a:t>React sends multipart REST requests to FastAPI</a:t>
            </a:r>
            <a:endParaRPr lang="en-US" sz="1700"/>
          </a:p>
          <a:p>
            <a:pPr marL="285750" indent="-171450">
              <a:buChar char="•"/>
            </a:pPr>
            <a:r>
              <a:rPr lang="en-US" sz="1700">
                <a:solidFill>
                  <a:srgbClr val="263238"/>
                </a:solidFill>
              </a:rPr>
              <a:t>FastAPI validates files and calls PDF service functions</a:t>
            </a:r>
            <a:endParaRPr lang="en-US" sz="1700"/>
          </a:p>
          <a:p>
            <a:pPr marL="285750" indent="-171450">
              <a:buChar char="•"/>
            </a:pPr>
            <a:r>
              <a:rPr lang="en-US" sz="1700">
                <a:solidFill>
                  <a:srgbClr val="263238"/>
                </a:solidFill>
              </a:rPr>
              <a:t>Generated file is returned as a downloadable response</a:t>
            </a:r>
            <a:endParaRPr lang="en-US" sz="1700"/>
          </a:p>
        </p:txBody>
      </p:sp>
      <p:sp>
        <p:nvSpPr>
          <p:cNvPr id="40" name="React UI"/>
          <p:cNvSpPr txBox="1"/>
          <p:nvPr/>
        </p:nvSpPr>
        <p:spPr>
          <a:xfrm>
            <a:off x="868680" y="2377440"/>
            <a:ext cx="1417320" cy="685800"/>
          </a:xfrm>
          <a:prstGeom prst="roundRect">
            <a:avLst/>
          </a:prstGeom>
          <a:solidFill>
            <a:srgbClr val="F4F9FF"/>
          </a:solidFill>
          <a:ln w="9525">
            <a:solidFill>
              <a:srgbClr val="0B5CAD"/>
            </a:solidFill>
          </a:ln>
        </p:spPr>
        <p:txBody>
          <a:bodyPr wrap="square" anchor="mid" lIns="137160" tIns="91440" rIns="137160" bIns="91440"/>
          <a:lstStyle/>
          <a:p>
            <a:pPr/>
            <a:r>
              <a:rPr lang="en-US" sz="1300" b="1">
                <a:solidFill>
                  <a:srgbClr val="0B5CAD"/>
                </a:solidFill>
              </a:rPr>
              <a:t>React UI</a:t>
            </a:r>
            <a:endParaRPr lang="en-US" sz="1300"/>
          </a:p>
        </p:txBody>
      </p:sp>
      <p:cxnSp>
        <p:nvCxnSpPr>
          <p:cNvPr id="60" name="Arrow 0"/>
          <p:cNvCxnSpPr/>
          <p:nvPr/>
        </p:nvCxnSpPr>
        <p:spPr>
          <a:xfrm>
            <a:off x="2286000" y="2724912"/>
            <a:ext cx="594359" cy="0"/>
          </a:xfrm>
          <a:prstGeom prst="straightConnector1">
            <a:avLst/>
          </a:prstGeom>
          <a:ln w="25400">
            <a:solidFill>
              <a:srgbClr val="1976D2"/>
            </a:solidFill>
            <a:headEnd type="triangle"/>
          </a:ln>
        </p:spPr>
      </p:cxnSp>
      <p:sp>
        <p:nvSpPr>
          <p:cNvPr id="41" name="REST API"/>
          <p:cNvSpPr txBox="1"/>
          <p:nvPr/>
        </p:nvSpPr>
        <p:spPr>
          <a:xfrm>
            <a:off x="2880360" y="2377440"/>
            <a:ext cx="1417320" cy="685800"/>
          </a:xfrm>
          <a:prstGeom prst="roundRect">
            <a:avLst/>
          </a:prstGeom>
          <a:solidFill>
            <a:srgbClr val="F4F9FF"/>
          </a:solidFill>
          <a:ln w="9525">
            <a:solidFill>
              <a:srgbClr val="0B5CAD"/>
            </a:solidFill>
          </a:ln>
        </p:spPr>
        <p:txBody>
          <a:bodyPr wrap="square" anchor="mid" lIns="137160" tIns="91440" rIns="137160" bIns="91440"/>
          <a:lstStyle/>
          <a:p>
            <a:pPr/>
            <a:r>
              <a:rPr lang="en-US" sz="1300" b="1">
                <a:solidFill>
                  <a:srgbClr val="0B5CAD"/>
                </a:solidFill>
              </a:rPr>
              <a:t>REST API</a:t>
            </a:r>
            <a:endParaRPr lang="en-US" sz="1300"/>
          </a:p>
        </p:txBody>
      </p:sp>
      <p:cxnSp>
        <p:nvCxnSpPr>
          <p:cNvPr id="61" name="Arrow 1"/>
          <p:cNvCxnSpPr/>
          <p:nvPr/>
        </p:nvCxnSpPr>
        <p:spPr>
          <a:xfrm>
            <a:off x="4297680" y="2724912"/>
            <a:ext cx="594359" cy="0"/>
          </a:xfrm>
          <a:prstGeom prst="straightConnector1">
            <a:avLst/>
          </a:prstGeom>
          <a:ln w="25400">
            <a:solidFill>
              <a:srgbClr val="1976D2"/>
            </a:solidFill>
            <a:headEnd type="triangle"/>
          </a:ln>
        </p:spPr>
      </p:cxnSp>
      <p:sp>
        <p:nvSpPr>
          <p:cNvPr id="42" name="FastAPI Router"/>
          <p:cNvSpPr txBox="1"/>
          <p:nvPr/>
        </p:nvSpPr>
        <p:spPr>
          <a:xfrm>
            <a:off x="4892040" y="2377440"/>
            <a:ext cx="1417320" cy="685800"/>
          </a:xfrm>
          <a:prstGeom prst="roundRect">
            <a:avLst/>
          </a:prstGeom>
          <a:solidFill>
            <a:srgbClr val="F4F9FF"/>
          </a:solidFill>
          <a:ln w="9525">
            <a:solidFill>
              <a:srgbClr val="0B5CAD"/>
            </a:solidFill>
          </a:ln>
        </p:spPr>
        <p:txBody>
          <a:bodyPr wrap="square" anchor="mid" lIns="137160" tIns="91440" rIns="137160" bIns="91440"/>
          <a:lstStyle/>
          <a:p>
            <a:pPr/>
            <a:r>
              <a:rPr lang="en-US" sz="1300" b="1">
                <a:solidFill>
                  <a:srgbClr val="0B5CAD"/>
                </a:solidFill>
              </a:rPr>
              <a:t>FastAPI Router</a:t>
            </a:r>
            <a:endParaRPr lang="en-US" sz="1300"/>
          </a:p>
        </p:txBody>
      </p:sp>
      <p:cxnSp>
        <p:nvCxnSpPr>
          <p:cNvPr id="62" name="Arrow 2"/>
          <p:cNvCxnSpPr/>
          <p:nvPr/>
        </p:nvCxnSpPr>
        <p:spPr>
          <a:xfrm>
            <a:off x="6309359" y="2724912"/>
            <a:ext cx="822960" cy="0"/>
          </a:xfrm>
          <a:prstGeom prst="straightConnector1">
            <a:avLst/>
          </a:prstGeom>
          <a:ln w="25400">
            <a:solidFill>
              <a:srgbClr val="1976D2"/>
            </a:solidFill>
            <a:headEnd type="triangle"/>
          </a:ln>
        </p:spPr>
      </p:cxnSp>
      <p:sp>
        <p:nvSpPr>
          <p:cNvPr id="43" name="PDF Service"/>
          <p:cNvSpPr txBox="1"/>
          <p:nvPr/>
        </p:nvSpPr>
        <p:spPr>
          <a:xfrm>
            <a:off x="7132320" y="2377440"/>
            <a:ext cx="1417320" cy="685800"/>
          </a:xfrm>
          <a:prstGeom prst="roundRect">
            <a:avLst/>
          </a:prstGeom>
          <a:solidFill>
            <a:srgbClr val="F4F9FF"/>
          </a:solidFill>
          <a:ln w="9525">
            <a:solidFill>
              <a:srgbClr val="0B5CAD"/>
            </a:solidFill>
          </a:ln>
        </p:spPr>
        <p:txBody>
          <a:bodyPr wrap="square" anchor="mid" lIns="137160" tIns="91440" rIns="137160" bIns="91440"/>
          <a:lstStyle/>
          <a:p>
            <a:pPr/>
            <a:r>
              <a:rPr lang="en-US" sz="1300" b="1">
                <a:solidFill>
                  <a:srgbClr val="0B5CAD"/>
                </a:solidFill>
              </a:rPr>
              <a:t>PDF Service</a:t>
            </a:r>
            <a:endParaRPr lang="en-US" sz="1300"/>
          </a:p>
        </p:txBody>
      </p:sp>
      <p:cxnSp>
        <p:nvCxnSpPr>
          <p:cNvPr id="63" name="Arrow 3"/>
          <p:cNvCxnSpPr/>
          <p:nvPr/>
        </p:nvCxnSpPr>
        <p:spPr>
          <a:xfrm>
            <a:off x="8549640" y="2724912"/>
            <a:ext cx="685800" cy="0"/>
          </a:xfrm>
          <a:prstGeom prst="straightConnector1">
            <a:avLst/>
          </a:prstGeom>
          <a:ln w="25400">
            <a:solidFill>
              <a:srgbClr val="1976D2"/>
            </a:solidFill>
            <a:headEnd type="triangle"/>
          </a:ln>
        </p:spPr>
      </p:cxnSp>
      <p:sp>
        <p:nvSpPr>
          <p:cNvPr id="44" name="Download"/>
          <p:cNvSpPr txBox="1"/>
          <p:nvPr/>
        </p:nvSpPr>
        <p:spPr>
          <a:xfrm>
            <a:off x="9235440" y="2377440"/>
            <a:ext cx="1417320" cy="685800"/>
          </a:xfrm>
          <a:prstGeom prst="roundRect">
            <a:avLst/>
          </a:prstGeom>
          <a:solidFill>
            <a:srgbClr val="F4F9FF"/>
          </a:solidFill>
          <a:ln w="9525">
            <a:solidFill>
              <a:srgbClr val="0B5CAD"/>
            </a:solidFill>
          </a:ln>
        </p:spPr>
        <p:txBody>
          <a:bodyPr wrap="square" anchor="mid" lIns="137160" tIns="91440" rIns="137160" bIns="91440"/>
          <a:lstStyle/>
          <a:p>
            <a:pPr/>
            <a:r>
              <a:rPr lang="en-US" sz="1300" b="1">
                <a:solidFill>
                  <a:srgbClr val="0B5CAD"/>
                </a:solidFill>
              </a:rPr>
              <a:t>Download</a:t>
            </a:r>
            <a:endParaRPr lang="en-US" sz="1300"/>
          </a:p>
        </p:txBody>
      </p:sp>
      <p:sp>
        <p:nvSpPr>
          <p:cNvPr id="900" name="Footer"/>
          <p:cNvSpPr txBox="1"/>
          <p:nvPr/>
        </p:nvSpPr>
        <p:spPr>
          <a:xfrm>
            <a:off x="457200" y="6428232"/>
            <a:ext cx="112471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 lIns="137160" tIns="91440" rIns="137160" bIns="91440"/>
          <a:lstStyle/>
          <a:p>
            <a:pPr/>
            <a:r>
              <a:rPr lang="en-US" sz="800">
                <a:solidFill>
                  <a:srgbClr val="6B7A90"/>
                </a:solidFill>
              </a:rPr>
              <a:t>07  |  PDF Toolkit - BTP Presentation</a:t>
            </a:r>
            <a:endParaRPr lang="en-US" sz="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</p:sp>
      <p:sp>
        <p:nvSpPr>
          <p:cNvPr id="2" name="Top blue band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5CAD"/>
          </a:solidFill>
          <a:ln w="9525">
            <a:solidFill>
              <a:srgbClr val="0B5CAD"/>
            </a:solidFill>
          </a:ln>
        </p:spPr>
      </p:sp>
      <p:sp>
        <p:nvSpPr>
          <p:cNvPr id="3" name="Slide title"/>
          <p:cNvSpPr txBox="1"/>
          <p:nvPr/>
        </p:nvSpPr>
        <p:spPr>
          <a:xfrm>
            <a:off x="411480" y="73152"/>
            <a:ext cx="86868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137160" tIns="91440" rIns="137160" bIns="91440"/>
          <a:lstStyle/>
          <a:p>
            <a:pPr/>
            <a:r>
              <a:rPr lang="en-US" sz="2100" b="1">
                <a:solidFill>
                  <a:srgbClr val="FFFFFF"/>
                </a:solidFill>
              </a:rPr>
              <a:t>Frontend Design</a:t>
            </a:r>
            <a:endParaRPr lang="en-US" sz="2100"/>
          </a:p>
        </p:txBody>
      </p:sp>
      <p:sp>
        <p:nvSpPr>
          <p:cNvPr id="4" name="Slide subtitle"/>
          <p:cNvSpPr txBox="1"/>
          <p:nvPr/>
        </p:nvSpPr>
        <p:spPr>
          <a:xfrm>
            <a:off x="9052560" y="109728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mid" lIns="137160" tIns="91440" rIns="137160" bIns="91440"/>
          <a:lstStyle/>
          <a:p>
            <a:pPr/>
            <a:r>
              <a:rPr lang="en-US" sz="1000">
                <a:solidFill>
                  <a:srgbClr val="EAF3FF"/>
                </a:solidFill>
              </a:rPr>
              <a:t>PDF Toolkit BTP</a:t>
            </a:r>
            <a:endParaRPr lang="en-US" sz="1000"/>
          </a:p>
        </p:txBody>
      </p:sp>
      <p:sp>
        <p:nvSpPr>
          <p:cNvPr id="10" name="Bullets"/>
          <p:cNvSpPr txBox="1"/>
          <p:nvPr/>
        </p:nvSpPr>
        <p:spPr>
          <a:xfrm>
            <a:off x="594360" y="1097280"/>
            <a:ext cx="4846320" cy="4480560"/>
          </a:xfrm>
          <a:prstGeom prst="rect">
            <a:avLst/>
          </a:prstGeom>
          <a:noFill/>
          <a:ln>
            <a:noFill/>
          </a:ln>
        </p:spPr>
        <p:txBody>
          <a:bodyPr wrap="square" anchor="t" lIns="137160" tIns="91440" rIns="137160" bIns="91440"/>
          <a:lstStyle/>
          <a:p>
            <a:pPr/>
            <a:r>
              <a:rPr lang="en-US" sz="1700" b="1">
                <a:solidFill>
                  <a:srgbClr val="263238"/>
                </a:solidFill>
              </a:rPr>
              <a:t>Key Points</a:t>
            </a:r>
            <a:endParaRPr lang="en-US" sz="1700"/>
          </a:p>
          <a:p>
            <a:pPr marL="285750" indent="-171450">
              <a:buChar char="•"/>
            </a:pPr>
            <a:r>
              <a:rPr lang="en-US" sz="1700">
                <a:solidFill>
                  <a:srgbClr val="263238"/>
                </a:solidFill>
              </a:rPr>
              <a:t>Tool-based UI with upload controls and parameters</a:t>
            </a:r>
            <a:endParaRPr lang="en-US" sz="1700"/>
          </a:p>
          <a:p>
            <a:pPr marL="285750" indent="-171450">
              <a:buChar char="•"/>
            </a:pPr>
            <a:r>
              <a:rPr lang="en-US" sz="1700">
                <a:solidFill>
                  <a:srgbClr val="263238"/>
                </a:solidFill>
              </a:rPr>
              <a:t>Uses production API base URL from environment configuration</a:t>
            </a:r>
            <a:endParaRPr lang="en-US" sz="1700"/>
          </a:p>
          <a:p>
            <a:pPr marL="285750" indent="-171450">
              <a:buChar char="•"/>
            </a:pPr>
            <a:r>
              <a:rPr lang="en-US" sz="1700">
                <a:solidFill>
                  <a:srgbClr val="263238"/>
                </a:solidFill>
              </a:rPr>
              <a:t>Handles loading, errors, and returned file downloads</a:t>
            </a:r>
            <a:endParaRPr lang="en-US" sz="1700"/>
          </a:p>
          <a:p>
            <a:pPr marL="285750" indent="-171450">
              <a:buChar char="•"/>
            </a:pPr>
            <a:r>
              <a:rPr lang="en-US" sz="1700">
                <a:solidFill>
                  <a:srgbClr val="263238"/>
                </a:solidFill>
              </a:rPr>
              <a:t>Designed for simple demo flow during presentation</a:t>
            </a:r>
            <a:endParaRPr lang="en-US" sz="1700"/>
          </a:p>
        </p:txBody>
      </p:sp>
      <p:sp>
        <p:nvSpPr>
          <p:cNvPr id="40" name="Frontend UI screenshot placeholder"/>
          <p:cNvSpPr/>
          <p:nvPr/>
        </p:nvSpPr>
        <p:spPr>
          <a:xfrm>
            <a:off x="5760720" y="1024128"/>
            <a:ext cx="5212080" cy="4343400"/>
          </a:xfrm>
          <a:prstGeom prst="roundRect">
            <a:avLst/>
          </a:prstGeom>
          <a:solidFill>
            <a:srgbClr val="F4F9FF"/>
          </a:solidFill>
          <a:ln w="9525">
            <a:solidFill>
              <a:srgbClr val="8BBCE8"/>
            </a:solidFill>
          </a:ln>
        </p:spPr>
      </p:sp>
      <p:sp>
        <p:nvSpPr>
          <p:cNvPr id="41" name="Frontend UI screenshot"/>
          <p:cNvSpPr txBox="1"/>
          <p:nvPr/>
        </p:nvSpPr>
        <p:spPr>
          <a:xfrm>
            <a:off x="5989320" y="2921508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wrap="square" anchor="mid" lIns="137160" tIns="91440" rIns="137160" bIns="91440"/>
          <a:lstStyle/>
          <a:p>
            <a:pPr/>
            <a:r>
              <a:rPr lang="en-US" sz="1500" b="1">
                <a:solidFill>
                  <a:srgbClr val="0B5CAD"/>
                </a:solidFill>
              </a:rPr>
              <a:t>Frontend UI screenshot</a:t>
            </a:r>
            <a:endParaRPr lang="en-US" sz="1500"/>
          </a:p>
          <a:p>
            <a:pPr/>
            <a:r>
              <a:rPr lang="en-US" sz="1500">
                <a:solidFill>
                  <a:srgbClr val="0B5CAD"/>
                </a:solidFill>
              </a:rPr>
              <a:t>Replace with actual screenshot</a:t>
            </a:r>
            <a:endParaRPr lang="en-US" sz="1500"/>
          </a:p>
        </p:txBody>
      </p:sp>
      <p:sp>
        <p:nvSpPr>
          <p:cNvPr id="900" name="Footer"/>
          <p:cNvSpPr txBox="1"/>
          <p:nvPr/>
        </p:nvSpPr>
        <p:spPr>
          <a:xfrm>
            <a:off x="457200" y="6428232"/>
            <a:ext cx="112471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 lIns="137160" tIns="91440" rIns="137160" bIns="91440"/>
          <a:lstStyle/>
          <a:p>
            <a:pPr/>
            <a:r>
              <a:rPr lang="en-US" sz="800">
                <a:solidFill>
                  <a:srgbClr val="6B7A90"/>
                </a:solidFill>
              </a:rPr>
              <a:t>08  |  PDF Toolkit - BTP Presentation</a:t>
            </a:r>
            <a:endParaRPr lang="en-US" sz="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</p:sp>
      <p:sp>
        <p:nvSpPr>
          <p:cNvPr id="2" name="Top blue band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5CAD"/>
          </a:solidFill>
          <a:ln w="9525">
            <a:solidFill>
              <a:srgbClr val="0B5CAD"/>
            </a:solidFill>
          </a:ln>
        </p:spPr>
      </p:sp>
      <p:sp>
        <p:nvSpPr>
          <p:cNvPr id="3" name="Slide title"/>
          <p:cNvSpPr txBox="1"/>
          <p:nvPr/>
        </p:nvSpPr>
        <p:spPr>
          <a:xfrm>
            <a:off x="411480" y="73152"/>
            <a:ext cx="86868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137160" tIns="91440" rIns="137160" bIns="91440"/>
          <a:lstStyle/>
          <a:p>
            <a:pPr/>
            <a:r>
              <a:rPr lang="en-US" sz="2100" b="1">
                <a:solidFill>
                  <a:srgbClr val="FFFFFF"/>
                </a:solidFill>
              </a:rPr>
              <a:t>Backend Design</a:t>
            </a:r>
            <a:endParaRPr lang="en-US" sz="2100"/>
          </a:p>
        </p:txBody>
      </p:sp>
      <p:sp>
        <p:nvSpPr>
          <p:cNvPr id="4" name="Slide subtitle"/>
          <p:cNvSpPr txBox="1"/>
          <p:nvPr/>
        </p:nvSpPr>
        <p:spPr>
          <a:xfrm>
            <a:off x="9052560" y="109728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mid" lIns="137160" tIns="91440" rIns="137160" bIns="91440"/>
          <a:lstStyle/>
          <a:p>
            <a:pPr/>
            <a:r>
              <a:rPr lang="en-US" sz="1000">
                <a:solidFill>
                  <a:srgbClr val="EAF3FF"/>
                </a:solidFill>
              </a:rPr>
              <a:t>PDF Toolkit BTP</a:t>
            </a:r>
            <a:endParaRPr lang="en-US" sz="1000"/>
          </a:p>
        </p:txBody>
      </p:sp>
      <p:sp>
        <p:nvSpPr>
          <p:cNvPr id="10" name="Bullets"/>
          <p:cNvSpPr txBox="1"/>
          <p:nvPr/>
        </p:nvSpPr>
        <p:spPr>
          <a:xfrm>
            <a:off x="594360" y="1097280"/>
            <a:ext cx="4846320" cy="4480560"/>
          </a:xfrm>
          <a:prstGeom prst="rect">
            <a:avLst/>
          </a:prstGeom>
          <a:noFill/>
          <a:ln>
            <a:noFill/>
          </a:ln>
        </p:spPr>
        <p:txBody>
          <a:bodyPr wrap="square" anchor="t" lIns="137160" tIns="91440" rIns="137160" bIns="91440"/>
          <a:lstStyle/>
          <a:p>
            <a:pPr/>
            <a:r>
              <a:rPr lang="en-US" sz="1700" b="1">
                <a:solidFill>
                  <a:srgbClr val="263238"/>
                </a:solidFill>
              </a:rPr>
              <a:t>Key Points</a:t>
            </a:r>
            <a:endParaRPr lang="en-US" sz="1700"/>
          </a:p>
          <a:p>
            <a:pPr marL="285750" indent="-171450">
              <a:buChar char="•"/>
            </a:pPr>
            <a:r>
              <a:rPr lang="en-US" sz="1700">
                <a:solidFill>
                  <a:srgbClr val="263238"/>
                </a:solidFill>
              </a:rPr>
              <a:t>FastAPI app exposes public routes and PDF routes under /api/pdf</a:t>
            </a:r>
            <a:endParaRPr lang="en-US" sz="1700"/>
          </a:p>
          <a:p>
            <a:pPr marL="285750" indent="-171450">
              <a:buChar char="•"/>
            </a:pPr>
            <a:r>
              <a:rPr lang="en-US" sz="1700">
                <a:solidFill>
                  <a:srgbClr val="263238"/>
                </a:solidFill>
              </a:rPr>
              <a:t>APIRouter groups all PDF endpoints</a:t>
            </a:r>
            <a:endParaRPr lang="en-US" sz="1700"/>
          </a:p>
          <a:p>
            <a:pPr marL="285750" indent="-171450">
              <a:buChar char="•"/>
            </a:pPr>
            <a:r>
              <a:rPr lang="en-US" sz="1700">
                <a:solidFill>
                  <a:srgbClr val="263238"/>
                </a:solidFill>
              </a:rPr>
              <a:t>Threadpool execution keeps async API responsive</a:t>
            </a:r>
            <a:endParaRPr lang="en-US" sz="1700"/>
          </a:p>
          <a:p>
            <a:pPr marL="285750" indent="-171450">
              <a:buChar char="•"/>
            </a:pPr>
            <a:r>
              <a:rPr lang="en-US" sz="1700">
                <a:solidFill>
                  <a:srgbClr val="263238"/>
                </a:solidFill>
              </a:rPr>
              <a:t>Temporary workspaces are cleaned after download</a:t>
            </a:r>
            <a:endParaRPr lang="en-US" sz="1700"/>
          </a:p>
        </p:txBody>
      </p:sp>
      <p:sp>
        <p:nvSpPr>
          <p:cNvPr id="40" name="main.py"/>
          <p:cNvSpPr txBox="1"/>
          <p:nvPr/>
        </p:nvSpPr>
        <p:spPr>
          <a:xfrm>
            <a:off x="6035040" y="1051560"/>
            <a:ext cx="1600200" cy="566928"/>
          </a:xfrm>
          <a:prstGeom prst="roundRect">
            <a:avLst/>
          </a:prstGeom>
          <a:solidFill>
            <a:srgbClr val="F4F9FF"/>
          </a:solidFill>
          <a:ln w="9525">
            <a:solidFill>
              <a:srgbClr val="8BBCE8"/>
            </a:solidFill>
          </a:ln>
        </p:spPr>
        <p:txBody>
          <a:bodyPr wrap="square" anchor="mid" lIns="137160" tIns="91440" rIns="137160" bIns="91440"/>
          <a:lstStyle/>
          <a:p>
            <a:pPr/>
            <a:r>
              <a:rPr lang="en-US" sz="1100" b="1">
                <a:solidFill>
                  <a:srgbClr val="0B5CAD"/>
                </a:solidFill>
              </a:rPr>
              <a:t>main.py</a:t>
            </a:r>
            <a:endParaRPr lang="en-US" sz="1100"/>
          </a:p>
        </p:txBody>
      </p:sp>
      <p:sp>
        <p:nvSpPr>
          <p:cNvPr id="41" name="APIRouter /api/pdf"/>
          <p:cNvSpPr txBox="1"/>
          <p:nvPr/>
        </p:nvSpPr>
        <p:spPr>
          <a:xfrm>
            <a:off x="7955279" y="1051560"/>
            <a:ext cx="1600200" cy="566928"/>
          </a:xfrm>
          <a:prstGeom prst="roundRect">
            <a:avLst/>
          </a:prstGeom>
          <a:solidFill>
            <a:srgbClr val="F4F9FF"/>
          </a:solidFill>
          <a:ln w="9525">
            <a:solidFill>
              <a:srgbClr val="8BBCE8"/>
            </a:solidFill>
          </a:ln>
        </p:spPr>
        <p:txBody>
          <a:bodyPr wrap="square" anchor="mid" lIns="137160" tIns="91440" rIns="137160" bIns="91440"/>
          <a:lstStyle/>
          <a:p>
            <a:pPr/>
            <a:r>
              <a:rPr lang="en-US" sz="1100" b="1">
                <a:solidFill>
                  <a:srgbClr val="0B5CAD"/>
                </a:solidFill>
              </a:rPr>
              <a:t>APIRouter /api/pdf</a:t>
            </a:r>
            <a:endParaRPr lang="en-US" sz="1100"/>
          </a:p>
        </p:txBody>
      </p:sp>
      <p:sp>
        <p:nvSpPr>
          <p:cNvPr id="42" name="validation"/>
          <p:cNvSpPr txBox="1"/>
          <p:nvPr/>
        </p:nvSpPr>
        <p:spPr>
          <a:xfrm>
            <a:off x="6035040" y="2331720"/>
            <a:ext cx="1600200" cy="566928"/>
          </a:xfrm>
          <a:prstGeom prst="roundRect">
            <a:avLst/>
          </a:prstGeom>
          <a:solidFill>
            <a:srgbClr val="F4F9FF"/>
          </a:solidFill>
          <a:ln w="9525">
            <a:solidFill>
              <a:srgbClr val="8BBCE8"/>
            </a:solidFill>
          </a:ln>
        </p:spPr>
        <p:txBody>
          <a:bodyPr wrap="square" anchor="mid" lIns="137160" tIns="91440" rIns="137160" bIns="91440"/>
          <a:lstStyle/>
          <a:p>
            <a:pPr/>
            <a:r>
              <a:rPr lang="en-US" sz="1100" b="1">
                <a:solidFill>
                  <a:srgbClr val="0B5CAD"/>
                </a:solidFill>
              </a:rPr>
              <a:t>validation</a:t>
            </a:r>
            <a:endParaRPr lang="en-US" sz="1100"/>
          </a:p>
        </p:txBody>
      </p:sp>
      <p:sp>
        <p:nvSpPr>
          <p:cNvPr id="43" name="service function"/>
          <p:cNvSpPr txBox="1"/>
          <p:nvPr/>
        </p:nvSpPr>
        <p:spPr>
          <a:xfrm>
            <a:off x="7955279" y="2331720"/>
            <a:ext cx="1600200" cy="566928"/>
          </a:xfrm>
          <a:prstGeom prst="roundRect">
            <a:avLst/>
          </a:prstGeom>
          <a:solidFill>
            <a:srgbClr val="F4F9FF"/>
          </a:solidFill>
          <a:ln w="9525">
            <a:solidFill>
              <a:srgbClr val="8BBCE8"/>
            </a:solidFill>
          </a:ln>
        </p:spPr>
        <p:txBody>
          <a:bodyPr wrap="square" anchor="mid" lIns="137160" tIns="91440" rIns="137160" bIns="91440"/>
          <a:lstStyle/>
          <a:p>
            <a:pPr/>
            <a:r>
              <a:rPr lang="en-US" sz="1100" b="1">
                <a:solidFill>
                  <a:srgbClr val="0B5CAD"/>
                </a:solidFill>
              </a:rPr>
              <a:t>service function</a:t>
            </a:r>
            <a:endParaRPr lang="en-US" sz="1100"/>
          </a:p>
        </p:txBody>
      </p:sp>
      <p:sp>
        <p:nvSpPr>
          <p:cNvPr id="44" name="FileResponse + cleanup"/>
          <p:cNvSpPr txBox="1"/>
          <p:nvPr/>
        </p:nvSpPr>
        <p:spPr>
          <a:xfrm>
            <a:off x="6812280" y="3611880"/>
            <a:ext cx="1600200" cy="566928"/>
          </a:xfrm>
          <a:prstGeom prst="roundRect">
            <a:avLst/>
          </a:prstGeom>
          <a:solidFill>
            <a:srgbClr val="F4F9FF"/>
          </a:solidFill>
          <a:ln w="9525">
            <a:solidFill>
              <a:srgbClr val="8BBCE8"/>
            </a:solidFill>
          </a:ln>
        </p:spPr>
        <p:txBody>
          <a:bodyPr wrap="square" anchor="mid" lIns="137160" tIns="91440" rIns="137160" bIns="91440"/>
          <a:lstStyle/>
          <a:p>
            <a:pPr/>
            <a:r>
              <a:rPr lang="en-US" sz="1100" b="1">
                <a:solidFill>
                  <a:srgbClr val="0B5CAD"/>
                </a:solidFill>
              </a:rPr>
              <a:t>FileResponse + cleanup</a:t>
            </a:r>
            <a:endParaRPr lang="en-US" sz="1100"/>
          </a:p>
        </p:txBody>
      </p:sp>
      <p:sp>
        <p:nvSpPr>
          <p:cNvPr id="900" name="Footer"/>
          <p:cNvSpPr txBox="1"/>
          <p:nvPr/>
        </p:nvSpPr>
        <p:spPr>
          <a:xfrm>
            <a:off x="457200" y="6428232"/>
            <a:ext cx="112471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 lIns="137160" tIns="91440" rIns="137160" bIns="91440"/>
          <a:lstStyle/>
          <a:p>
            <a:pPr/>
            <a:r>
              <a:rPr lang="en-US" sz="800">
                <a:solidFill>
                  <a:srgbClr val="6B7A90"/>
                </a:solidFill>
              </a:rPr>
              <a:t>09  |  PDF Toolkit - BTP Presentation</a:t>
            </a:r>
            <a:endParaRPr lang="en-US" sz="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</p:sp>
      <p:sp>
        <p:nvSpPr>
          <p:cNvPr id="2" name="Top blue band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5CAD"/>
          </a:solidFill>
          <a:ln w="9525">
            <a:solidFill>
              <a:srgbClr val="0B5CAD"/>
            </a:solidFill>
          </a:ln>
        </p:spPr>
      </p:sp>
      <p:sp>
        <p:nvSpPr>
          <p:cNvPr id="3" name="Slide title"/>
          <p:cNvSpPr txBox="1"/>
          <p:nvPr/>
        </p:nvSpPr>
        <p:spPr>
          <a:xfrm>
            <a:off x="411480" y="73152"/>
            <a:ext cx="86868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137160" tIns="91440" rIns="137160" bIns="91440"/>
          <a:lstStyle/>
          <a:p>
            <a:pPr/>
            <a:r>
              <a:rPr lang="en-US" sz="2100" b="1">
                <a:solidFill>
                  <a:srgbClr val="FFFFFF"/>
                </a:solidFill>
              </a:rPr>
              <a:t>Deployment Architecture</a:t>
            </a:r>
            <a:endParaRPr lang="en-US" sz="2100"/>
          </a:p>
        </p:txBody>
      </p:sp>
      <p:sp>
        <p:nvSpPr>
          <p:cNvPr id="4" name="Slide subtitle"/>
          <p:cNvSpPr txBox="1"/>
          <p:nvPr/>
        </p:nvSpPr>
        <p:spPr>
          <a:xfrm>
            <a:off x="9052560" y="109728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mid" lIns="137160" tIns="91440" rIns="137160" bIns="91440"/>
          <a:lstStyle/>
          <a:p>
            <a:pPr/>
            <a:r>
              <a:rPr lang="en-US" sz="1000">
                <a:solidFill>
                  <a:srgbClr val="EAF3FF"/>
                </a:solidFill>
              </a:rPr>
              <a:t>PDF Toolkit BTP</a:t>
            </a:r>
            <a:endParaRPr lang="en-US" sz="1000"/>
          </a:p>
        </p:txBody>
      </p:sp>
      <p:sp>
        <p:nvSpPr>
          <p:cNvPr id="10" name="Bullets"/>
          <p:cNvSpPr txBox="1"/>
          <p:nvPr/>
        </p:nvSpPr>
        <p:spPr>
          <a:xfrm>
            <a:off x="594360" y="1097280"/>
            <a:ext cx="4846320" cy="4480560"/>
          </a:xfrm>
          <a:prstGeom prst="rect">
            <a:avLst/>
          </a:prstGeom>
          <a:noFill/>
          <a:ln>
            <a:noFill/>
          </a:ln>
        </p:spPr>
        <p:txBody>
          <a:bodyPr wrap="square" anchor="t" lIns="137160" tIns="91440" rIns="137160" bIns="91440"/>
          <a:lstStyle/>
          <a:p>
            <a:pPr/>
            <a:r>
              <a:rPr lang="en-US" sz="1700" b="1">
                <a:solidFill>
                  <a:srgbClr val="263238"/>
                </a:solidFill>
              </a:rPr>
              <a:t>Key Points</a:t>
            </a:r>
            <a:endParaRPr lang="en-US" sz="1700"/>
          </a:p>
          <a:p>
            <a:pPr marL="285750" indent="-171450">
              <a:buChar char="•"/>
            </a:pPr>
            <a:r>
              <a:rPr lang="en-US" sz="1700">
                <a:solidFill>
                  <a:srgbClr val="263238"/>
                </a:solidFill>
              </a:rPr>
              <a:t>Vercel builds and hosts the React frontend</a:t>
            </a:r>
            <a:endParaRPr lang="en-US" sz="1700"/>
          </a:p>
          <a:p>
            <a:pPr marL="285750" indent="-171450">
              <a:buChar char="•"/>
            </a:pPr>
            <a:r>
              <a:rPr lang="en-US" sz="1700">
                <a:solidFill>
                  <a:srgbClr val="263238"/>
                </a:solidFill>
              </a:rPr>
              <a:t>Render builds Python backend and runs Uvicorn</a:t>
            </a:r>
            <a:endParaRPr lang="en-US" sz="1700"/>
          </a:p>
          <a:p>
            <a:pPr marL="285750" indent="-171450">
              <a:buChar char="•"/>
            </a:pPr>
            <a:r>
              <a:rPr lang="en-US" sz="1700">
                <a:solidFill>
                  <a:srgbClr val="263238"/>
                </a:solidFill>
              </a:rPr>
              <a:t>Frontend uses Render API URL as production API base</a:t>
            </a:r>
            <a:endParaRPr lang="en-US" sz="1700"/>
          </a:p>
          <a:p>
            <a:pPr marL="285750" indent="-171450">
              <a:buChar char="•"/>
            </a:pPr>
            <a:r>
              <a:rPr lang="en-US" sz="1700">
                <a:solidFill>
                  <a:srgbClr val="263238"/>
                </a:solidFill>
              </a:rPr>
              <a:t>CORS allows the Vercel origin to call Render safely</a:t>
            </a:r>
            <a:endParaRPr lang="en-US" sz="1700"/>
          </a:p>
        </p:txBody>
      </p:sp>
      <p:sp>
        <p:nvSpPr>
          <p:cNvPr id="40" name="GitHub"/>
          <p:cNvSpPr txBox="1"/>
          <p:nvPr/>
        </p:nvSpPr>
        <p:spPr>
          <a:xfrm>
            <a:off x="1005840" y="2468880"/>
            <a:ext cx="1417320" cy="731520"/>
          </a:xfrm>
          <a:prstGeom prst="roundRect">
            <a:avLst/>
          </a:prstGeom>
          <a:solidFill>
            <a:srgbClr val="F4F9FF"/>
          </a:solidFill>
          <a:ln w="9525">
            <a:solidFill>
              <a:srgbClr val="0B5CAD"/>
            </a:solidFill>
          </a:ln>
        </p:spPr>
        <p:txBody>
          <a:bodyPr wrap="square" anchor="mid" lIns="137160" tIns="91440" rIns="137160" bIns="91440"/>
          <a:lstStyle/>
          <a:p>
            <a:pPr/>
            <a:r>
              <a:rPr lang="en-US" sz="1200" b="1">
                <a:solidFill>
                  <a:srgbClr val="0B5CAD"/>
                </a:solidFill>
              </a:rPr>
              <a:t>GitHub</a:t>
            </a:r>
            <a:endParaRPr lang="en-US" sz="1200"/>
          </a:p>
        </p:txBody>
      </p:sp>
      <p:cxnSp>
        <p:nvCxnSpPr>
          <p:cNvPr id="60" name="Deploy arrow 0"/>
          <p:cNvCxnSpPr/>
          <p:nvPr/>
        </p:nvCxnSpPr>
        <p:spPr>
          <a:xfrm>
            <a:off x="2423160" y="1965960"/>
            <a:ext cx="868679" cy="868680"/>
          </a:xfrm>
          <a:prstGeom prst="straightConnector1">
            <a:avLst/>
          </a:prstGeom>
          <a:ln w="25400">
            <a:solidFill>
              <a:srgbClr val="1976D2"/>
            </a:solidFill>
            <a:headEnd type="triangle"/>
          </a:ln>
        </p:spPr>
      </p:cxnSp>
      <p:sp>
        <p:nvSpPr>
          <p:cNvPr id="41" name="Vercel React"/>
          <p:cNvSpPr txBox="1"/>
          <p:nvPr/>
        </p:nvSpPr>
        <p:spPr>
          <a:xfrm>
            <a:off x="3291840" y="1600200"/>
            <a:ext cx="1417320" cy="731520"/>
          </a:xfrm>
          <a:prstGeom prst="roundRect">
            <a:avLst/>
          </a:prstGeom>
          <a:solidFill>
            <a:srgbClr val="F4F9FF"/>
          </a:solidFill>
          <a:ln w="9525">
            <a:solidFill>
              <a:srgbClr val="0B5CAD"/>
            </a:solidFill>
          </a:ln>
        </p:spPr>
        <p:txBody>
          <a:bodyPr wrap="square" anchor="mid" lIns="137160" tIns="91440" rIns="137160" bIns="91440"/>
          <a:lstStyle/>
          <a:p>
            <a:pPr/>
            <a:r>
              <a:rPr lang="en-US" sz="1200" b="1">
                <a:solidFill>
                  <a:srgbClr val="0B5CAD"/>
                </a:solidFill>
              </a:rPr>
              <a:t>Vercel</a:t>
            </a:r>
            <a:endParaRPr lang="en-US" sz="1200"/>
          </a:p>
          <a:p>
            <a:pPr/>
            <a:r>
              <a:rPr lang="en-US" sz="1200">
                <a:solidFill>
                  <a:srgbClr val="0B5CAD"/>
                </a:solidFill>
              </a:rPr>
              <a:t>React</a:t>
            </a:r>
            <a:endParaRPr lang="en-US" sz="1200"/>
          </a:p>
        </p:txBody>
      </p:sp>
      <p:cxnSp>
        <p:nvCxnSpPr>
          <p:cNvPr id="61" name="Deploy arrow 1"/>
          <p:cNvCxnSpPr/>
          <p:nvPr/>
        </p:nvCxnSpPr>
        <p:spPr>
          <a:xfrm>
            <a:off x="4709160" y="1965960"/>
            <a:ext cx="777239" cy="868680"/>
          </a:xfrm>
          <a:prstGeom prst="straightConnector1">
            <a:avLst/>
          </a:prstGeom>
          <a:ln w="25400">
            <a:solidFill>
              <a:srgbClr val="1976D2"/>
            </a:solidFill>
            <a:headEnd type="triangle"/>
          </a:ln>
        </p:spPr>
      </p:cxnSp>
      <p:sp>
        <p:nvSpPr>
          <p:cNvPr id="42" name="Browser"/>
          <p:cNvSpPr txBox="1"/>
          <p:nvPr/>
        </p:nvSpPr>
        <p:spPr>
          <a:xfrm>
            <a:off x="5486400" y="2468880"/>
            <a:ext cx="1417320" cy="731520"/>
          </a:xfrm>
          <a:prstGeom prst="roundRect">
            <a:avLst/>
          </a:prstGeom>
          <a:solidFill>
            <a:srgbClr val="F4F9FF"/>
          </a:solidFill>
          <a:ln w="9525">
            <a:solidFill>
              <a:srgbClr val="0B5CAD"/>
            </a:solidFill>
          </a:ln>
        </p:spPr>
        <p:txBody>
          <a:bodyPr wrap="square" anchor="mid" lIns="137160" tIns="91440" rIns="137160" bIns="91440"/>
          <a:lstStyle/>
          <a:p>
            <a:pPr/>
            <a:r>
              <a:rPr lang="en-US" sz="1200" b="1">
                <a:solidFill>
                  <a:srgbClr val="0B5CAD"/>
                </a:solidFill>
              </a:rPr>
              <a:t>Browser</a:t>
            </a:r>
            <a:endParaRPr lang="en-US" sz="1200"/>
          </a:p>
        </p:txBody>
      </p:sp>
      <p:cxnSp>
        <p:nvCxnSpPr>
          <p:cNvPr id="62" name="Deploy arrow 2"/>
          <p:cNvCxnSpPr/>
          <p:nvPr/>
        </p:nvCxnSpPr>
        <p:spPr>
          <a:xfrm>
            <a:off x="6903720" y="1965960"/>
            <a:ext cx="868680" cy="868680"/>
          </a:xfrm>
          <a:prstGeom prst="straightConnector1">
            <a:avLst/>
          </a:prstGeom>
          <a:ln w="25400">
            <a:solidFill>
              <a:srgbClr val="1976D2"/>
            </a:solidFill>
            <a:headEnd type="triangle"/>
          </a:ln>
        </p:spPr>
      </p:cxnSp>
      <p:sp>
        <p:nvSpPr>
          <p:cNvPr id="43" name="Render FastAPI"/>
          <p:cNvSpPr txBox="1"/>
          <p:nvPr/>
        </p:nvSpPr>
        <p:spPr>
          <a:xfrm>
            <a:off x="7772400" y="1600200"/>
            <a:ext cx="1417320" cy="731520"/>
          </a:xfrm>
          <a:prstGeom prst="roundRect">
            <a:avLst/>
          </a:prstGeom>
          <a:solidFill>
            <a:srgbClr val="F4F9FF"/>
          </a:solidFill>
          <a:ln w="9525">
            <a:solidFill>
              <a:srgbClr val="0B5CAD"/>
            </a:solidFill>
          </a:ln>
        </p:spPr>
        <p:txBody>
          <a:bodyPr wrap="square" anchor="mid" lIns="137160" tIns="91440" rIns="137160" bIns="91440"/>
          <a:lstStyle/>
          <a:p>
            <a:pPr/>
            <a:r>
              <a:rPr lang="en-US" sz="1200" b="1">
                <a:solidFill>
                  <a:srgbClr val="0B5CAD"/>
                </a:solidFill>
              </a:rPr>
              <a:t>Render</a:t>
            </a:r>
            <a:endParaRPr lang="en-US" sz="1200"/>
          </a:p>
          <a:p>
            <a:pPr/>
            <a:r>
              <a:rPr lang="en-US" sz="1200">
                <a:solidFill>
                  <a:srgbClr val="0B5CAD"/>
                </a:solidFill>
              </a:rPr>
              <a:t>FastAPI</a:t>
            </a:r>
            <a:endParaRPr lang="en-US" sz="1200"/>
          </a:p>
        </p:txBody>
      </p:sp>
      <p:cxnSp>
        <p:nvCxnSpPr>
          <p:cNvPr id="63" name="Deploy arrow 3"/>
          <p:cNvCxnSpPr/>
          <p:nvPr/>
        </p:nvCxnSpPr>
        <p:spPr>
          <a:xfrm>
            <a:off x="9189720" y="1965960"/>
            <a:ext cx="777239" cy="868680"/>
          </a:xfrm>
          <a:prstGeom prst="straightConnector1">
            <a:avLst/>
          </a:prstGeom>
          <a:ln w="25400">
            <a:solidFill>
              <a:srgbClr val="1976D2"/>
            </a:solidFill>
            <a:headEnd type="triangle"/>
          </a:ln>
        </p:spPr>
      </p:cxnSp>
      <p:sp>
        <p:nvSpPr>
          <p:cNvPr id="44" name="PDF Output"/>
          <p:cNvSpPr txBox="1"/>
          <p:nvPr/>
        </p:nvSpPr>
        <p:spPr>
          <a:xfrm>
            <a:off x="9966960" y="2468880"/>
            <a:ext cx="1417320" cy="731520"/>
          </a:xfrm>
          <a:prstGeom prst="roundRect">
            <a:avLst/>
          </a:prstGeom>
          <a:solidFill>
            <a:srgbClr val="F4F9FF"/>
          </a:solidFill>
          <a:ln w="9525">
            <a:solidFill>
              <a:srgbClr val="0B5CAD"/>
            </a:solidFill>
          </a:ln>
        </p:spPr>
        <p:txBody>
          <a:bodyPr wrap="square" anchor="mid" lIns="137160" tIns="91440" rIns="137160" bIns="91440"/>
          <a:lstStyle/>
          <a:p>
            <a:pPr/>
            <a:r>
              <a:rPr lang="en-US" sz="1200" b="1">
                <a:solidFill>
                  <a:srgbClr val="0B5CAD"/>
                </a:solidFill>
              </a:rPr>
              <a:t>PDF Output</a:t>
            </a:r>
            <a:endParaRPr lang="en-US" sz="1200"/>
          </a:p>
        </p:txBody>
      </p:sp>
      <p:sp>
        <p:nvSpPr>
          <p:cNvPr id="900" name="Footer"/>
          <p:cNvSpPr txBox="1"/>
          <p:nvPr/>
        </p:nvSpPr>
        <p:spPr>
          <a:xfrm>
            <a:off x="457200" y="6428232"/>
            <a:ext cx="112471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 lIns="137160" tIns="91440" rIns="137160" bIns="91440"/>
          <a:lstStyle/>
          <a:p>
            <a:pPr/>
            <a:r>
              <a:rPr lang="en-US" sz="800">
                <a:solidFill>
                  <a:srgbClr val="6B7A90"/>
                </a:solidFill>
              </a:rPr>
              <a:t>10  |  PDF Toolkit - BTP Presentation</a:t>
            </a:r>
            <a:endParaRPr lang="en-US" sz="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</p:sp>
      <p:sp>
        <p:nvSpPr>
          <p:cNvPr id="2" name="Top blue band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5CAD"/>
          </a:solidFill>
          <a:ln w="9525">
            <a:solidFill>
              <a:srgbClr val="0B5CAD"/>
            </a:solidFill>
          </a:ln>
        </p:spPr>
      </p:sp>
      <p:sp>
        <p:nvSpPr>
          <p:cNvPr id="3" name="Slide title"/>
          <p:cNvSpPr txBox="1"/>
          <p:nvPr/>
        </p:nvSpPr>
        <p:spPr>
          <a:xfrm>
            <a:off x="411480" y="73152"/>
            <a:ext cx="86868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137160" tIns="91440" rIns="137160" bIns="91440"/>
          <a:lstStyle/>
          <a:p>
            <a:pPr/>
            <a:r>
              <a:rPr lang="en-US" sz="2100" b="1">
                <a:solidFill>
                  <a:srgbClr val="FFFFFF"/>
                </a:solidFill>
              </a:rPr>
              <a:t>Major Obstacles Faced</a:t>
            </a:r>
            <a:endParaRPr lang="en-US" sz="2100"/>
          </a:p>
        </p:txBody>
      </p:sp>
      <p:sp>
        <p:nvSpPr>
          <p:cNvPr id="4" name="Slide subtitle"/>
          <p:cNvSpPr txBox="1"/>
          <p:nvPr/>
        </p:nvSpPr>
        <p:spPr>
          <a:xfrm>
            <a:off x="9052560" y="109728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mid" lIns="137160" tIns="91440" rIns="137160" bIns="91440"/>
          <a:lstStyle/>
          <a:p>
            <a:pPr/>
            <a:r>
              <a:rPr lang="en-US" sz="1000">
                <a:solidFill>
                  <a:srgbClr val="EAF3FF"/>
                </a:solidFill>
              </a:rPr>
              <a:t>PDF Toolkit BTP</a:t>
            </a:r>
            <a:endParaRPr lang="en-US" sz="1000"/>
          </a:p>
        </p:txBody>
      </p:sp>
      <p:sp>
        <p:nvSpPr>
          <p:cNvPr id="10" name="Bullets"/>
          <p:cNvSpPr txBox="1"/>
          <p:nvPr/>
        </p:nvSpPr>
        <p:spPr>
          <a:xfrm>
            <a:off x="594360" y="1097280"/>
            <a:ext cx="10789920" cy="4480560"/>
          </a:xfrm>
          <a:prstGeom prst="rect">
            <a:avLst/>
          </a:prstGeom>
          <a:noFill/>
          <a:ln>
            <a:noFill/>
          </a:ln>
        </p:spPr>
        <p:txBody>
          <a:bodyPr wrap="square" anchor="t" lIns="137160" tIns="91440" rIns="137160" bIns="91440"/>
          <a:lstStyle/>
          <a:p>
            <a:pPr/>
            <a:r>
              <a:rPr lang="en-US" sz="1700" b="1">
                <a:solidFill>
                  <a:srgbClr val="263238"/>
                </a:solidFill>
              </a:rPr>
              <a:t>Key Points</a:t>
            </a:r>
            <a:endParaRPr lang="en-US" sz="1700"/>
          </a:p>
          <a:p>
            <a:pPr marL="285750" indent="-171450">
              <a:buChar char="•"/>
            </a:pPr>
            <a:r>
              <a:rPr lang="en-US" sz="1700">
                <a:solidFill>
                  <a:srgbClr val="263238"/>
                </a:solidFill>
              </a:rPr>
              <a:t>Render service initially used the wrong backend assumptions</a:t>
            </a:r>
            <a:endParaRPr lang="en-US" sz="1700"/>
          </a:p>
          <a:p>
            <a:pPr marL="285750" indent="-171450">
              <a:buChar char="•"/>
            </a:pPr>
            <a:r>
              <a:rPr lang="en-US" sz="1700">
                <a:solidFill>
                  <a:srgbClr val="263238"/>
                </a:solidFill>
              </a:rPr>
              <a:t>Accidental Node/Express files conflicted with the Python backend</a:t>
            </a:r>
            <a:endParaRPr lang="en-US" sz="1700"/>
          </a:p>
          <a:p>
            <a:pPr marL="285750" indent="-171450">
              <a:buChar char="•"/>
            </a:pPr>
            <a:r>
              <a:rPr lang="en-US" sz="1700">
                <a:solidFill>
                  <a:srgbClr val="263238"/>
                </a:solidFill>
              </a:rPr>
              <a:t>Cannot GET /health and /docs indicated routing/startup mismatch</a:t>
            </a:r>
            <a:endParaRPr lang="en-US" sz="1700"/>
          </a:p>
          <a:p>
            <a:pPr marL="285750" indent="-171450">
              <a:buChar char="•"/>
            </a:pPr>
            <a:r>
              <a:rPr lang="en-US" sz="1700">
                <a:solidFill>
                  <a:srgbClr val="263238"/>
                </a:solidFill>
              </a:rPr>
              <a:t>Production variables and CORS needed exact configuration</a:t>
            </a:r>
            <a:endParaRPr lang="en-US" sz="1700"/>
          </a:p>
        </p:txBody>
      </p:sp>
      <p:sp>
        <p:nvSpPr>
          <p:cNvPr id="900" name="Footer"/>
          <p:cNvSpPr txBox="1"/>
          <p:nvPr/>
        </p:nvSpPr>
        <p:spPr>
          <a:xfrm>
            <a:off x="457200" y="6428232"/>
            <a:ext cx="112471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 lIns="137160" tIns="91440" rIns="137160" bIns="91440"/>
          <a:lstStyle/>
          <a:p>
            <a:pPr/>
            <a:r>
              <a:rPr lang="en-US" sz="800">
                <a:solidFill>
                  <a:srgbClr val="6B7A90"/>
                </a:solidFill>
              </a:rPr>
              <a:t>11  |  PDF Toolkit - BTP Presentation</a:t>
            </a:r>
            <a:endParaRPr lang="en-US" sz="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</p:sp>
      <p:sp>
        <p:nvSpPr>
          <p:cNvPr id="2" name="Top blue band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5CAD"/>
          </a:solidFill>
          <a:ln w="9525">
            <a:solidFill>
              <a:srgbClr val="0B5CAD"/>
            </a:solidFill>
          </a:ln>
        </p:spPr>
      </p:sp>
      <p:sp>
        <p:nvSpPr>
          <p:cNvPr id="3" name="Slide title"/>
          <p:cNvSpPr txBox="1"/>
          <p:nvPr/>
        </p:nvSpPr>
        <p:spPr>
          <a:xfrm>
            <a:off x="411480" y="73152"/>
            <a:ext cx="86868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137160" tIns="91440" rIns="137160" bIns="91440"/>
          <a:lstStyle/>
          <a:p>
            <a:pPr/>
            <a:r>
              <a:rPr lang="en-US" sz="2100" b="1">
                <a:solidFill>
                  <a:srgbClr val="FFFFFF"/>
                </a:solidFill>
              </a:rPr>
              <a:t>Debugging &amp; Solutions</a:t>
            </a:r>
            <a:endParaRPr lang="en-US" sz="2100"/>
          </a:p>
        </p:txBody>
      </p:sp>
      <p:sp>
        <p:nvSpPr>
          <p:cNvPr id="4" name="Slide subtitle"/>
          <p:cNvSpPr txBox="1"/>
          <p:nvPr/>
        </p:nvSpPr>
        <p:spPr>
          <a:xfrm>
            <a:off x="9052560" y="109728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mid" lIns="137160" tIns="91440" rIns="137160" bIns="91440"/>
          <a:lstStyle/>
          <a:p>
            <a:pPr/>
            <a:r>
              <a:rPr lang="en-US" sz="1000">
                <a:solidFill>
                  <a:srgbClr val="EAF3FF"/>
                </a:solidFill>
              </a:rPr>
              <a:t>PDF Toolkit BTP</a:t>
            </a:r>
            <a:endParaRPr lang="en-US" sz="1000"/>
          </a:p>
        </p:txBody>
      </p:sp>
      <p:sp>
        <p:nvSpPr>
          <p:cNvPr id="10" name="Bullets"/>
          <p:cNvSpPr txBox="1"/>
          <p:nvPr/>
        </p:nvSpPr>
        <p:spPr>
          <a:xfrm>
            <a:off x="594360" y="1097280"/>
            <a:ext cx="4846320" cy="4480560"/>
          </a:xfrm>
          <a:prstGeom prst="rect">
            <a:avLst/>
          </a:prstGeom>
          <a:noFill/>
          <a:ln>
            <a:noFill/>
          </a:ln>
        </p:spPr>
        <p:txBody>
          <a:bodyPr wrap="square" anchor="t" lIns="137160" tIns="91440" rIns="137160" bIns="91440"/>
          <a:lstStyle/>
          <a:p>
            <a:pPr/>
            <a:r>
              <a:rPr lang="en-US" sz="1700" b="1">
                <a:solidFill>
                  <a:srgbClr val="263238"/>
                </a:solidFill>
              </a:rPr>
              <a:t>Key Points</a:t>
            </a:r>
            <a:endParaRPr lang="en-US" sz="1700"/>
          </a:p>
          <a:p>
            <a:pPr marL="285750" indent="-171450">
              <a:buChar char="•"/>
            </a:pPr>
            <a:r>
              <a:rPr lang="en-US" sz="1700">
                <a:solidFill>
                  <a:srgbClr val="263238"/>
                </a:solidFill>
              </a:rPr>
              <a:t>Removed Node/Express backend conflict and kept FastAPI as the only backend</a:t>
            </a:r>
            <a:endParaRPr lang="en-US" sz="1700"/>
          </a:p>
          <a:p>
            <a:pPr marL="285750" indent="-171450">
              <a:buChar char="•"/>
            </a:pPr>
            <a:r>
              <a:rPr lang="en-US" sz="1700">
                <a:solidFill>
                  <a:srgbClr val="263238"/>
                </a:solidFill>
              </a:rPr>
              <a:t>Configured Render rootDir as backend</a:t>
            </a:r>
            <a:endParaRPr lang="en-US" sz="1700"/>
          </a:p>
          <a:p>
            <a:pPr marL="285750" indent="-171450">
              <a:buChar char="•"/>
            </a:pPr>
            <a:r>
              <a:rPr lang="en-US" sz="1700">
                <a:solidFill>
                  <a:srgbClr val="263238"/>
                </a:solidFill>
              </a:rPr>
              <a:t>Configured startup: python -m uvicorn app.main:app --host 0.0.0.0 --port $PORT</a:t>
            </a:r>
            <a:endParaRPr lang="en-US" sz="1700"/>
          </a:p>
          <a:p>
            <a:pPr marL="285750" indent="-171450">
              <a:buChar char="•"/>
            </a:pPr>
            <a:r>
              <a:rPr lang="en-US" sz="1700">
                <a:solidFill>
                  <a:srgbClr val="263238"/>
                </a:solidFill>
              </a:rPr>
              <a:t>Added /health, /ready, /api/meta, /docs and startup route validation</a:t>
            </a:r>
            <a:endParaRPr lang="en-US" sz="1700"/>
          </a:p>
        </p:txBody>
      </p:sp>
      <p:sp>
        <p:nvSpPr>
          <p:cNvPr id="40" name="Symptom"/>
          <p:cNvSpPr txBox="1"/>
          <p:nvPr/>
        </p:nvSpPr>
        <p:spPr>
          <a:xfrm>
            <a:off x="5852160" y="1078992"/>
            <a:ext cx="1234440" cy="502920"/>
          </a:xfrm>
          <a:prstGeom prst="roundRect">
            <a:avLst/>
          </a:prstGeom>
          <a:solidFill>
            <a:srgbClr val="0B5CAD"/>
          </a:solidFill>
          <a:ln w="9525">
            <a:solidFill>
              <a:srgbClr val="0B5CAD"/>
            </a:solidFill>
          </a:ln>
        </p:spPr>
        <p:txBody>
          <a:bodyPr wrap="square" anchor="mid" lIns="137160" tIns="91440" rIns="137160" bIns="91440"/>
          <a:lstStyle/>
          <a:p>
            <a:pPr/>
            <a:r>
              <a:rPr lang="en-US" sz="1100" b="1">
                <a:solidFill>
                  <a:srgbClr val="FFFFFF"/>
                </a:solidFill>
              </a:rPr>
              <a:t>Symptom</a:t>
            </a:r>
            <a:endParaRPr lang="en-US" sz="1100"/>
          </a:p>
        </p:txBody>
      </p:sp>
      <p:sp>
        <p:nvSpPr>
          <p:cNvPr id="50" name="Cannot GET /health / /docs"/>
          <p:cNvSpPr txBox="1"/>
          <p:nvPr/>
        </p:nvSpPr>
        <p:spPr>
          <a:xfrm>
            <a:off x="7269480" y="1078992"/>
            <a:ext cx="3337560" cy="502920"/>
          </a:xfrm>
          <a:prstGeom prst="roundRect">
            <a:avLst/>
          </a:prstGeom>
          <a:solidFill>
            <a:srgbClr val="F4F9FF"/>
          </a:solidFill>
          <a:ln w="9525">
            <a:solidFill>
              <a:srgbClr val="B9D8F5"/>
            </a:solidFill>
          </a:ln>
        </p:spPr>
        <p:txBody>
          <a:bodyPr wrap="square" anchor="mid" lIns="137160" tIns="91440" rIns="137160" bIns="91440"/>
          <a:lstStyle/>
          <a:p>
            <a:pPr/>
            <a:r>
              <a:rPr lang="en-US" sz="1100">
                <a:solidFill>
                  <a:srgbClr val="263238"/>
                </a:solidFill>
              </a:rPr>
              <a:t>Cannot GET /health / /docs</a:t>
            </a:r>
            <a:endParaRPr lang="en-US" sz="1100"/>
          </a:p>
        </p:txBody>
      </p:sp>
      <p:sp>
        <p:nvSpPr>
          <p:cNvPr id="41" name="Cause"/>
          <p:cNvSpPr txBox="1"/>
          <p:nvPr/>
        </p:nvSpPr>
        <p:spPr>
          <a:xfrm>
            <a:off x="5852160" y="1947672"/>
            <a:ext cx="1234440" cy="502920"/>
          </a:xfrm>
          <a:prstGeom prst="roundRect">
            <a:avLst/>
          </a:prstGeom>
          <a:solidFill>
            <a:srgbClr val="0B5CAD"/>
          </a:solidFill>
          <a:ln w="9525">
            <a:solidFill>
              <a:srgbClr val="0B5CAD"/>
            </a:solidFill>
          </a:ln>
        </p:spPr>
        <p:txBody>
          <a:bodyPr wrap="square" anchor="mid" lIns="137160" tIns="91440" rIns="137160" bIns="91440"/>
          <a:lstStyle/>
          <a:p>
            <a:pPr/>
            <a:r>
              <a:rPr lang="en-US" sz="1100" b="1">
                <a:solidFill>
                  <a:srgbClr val="FFFFFF"/>
                </a:solidFill>
              </a:rPr>
              <a:t>Cause</a:t>
            </a:r>
            <a:endParaRPr lang="en-US" sz="1100"/>
          </a:p>
        </p:txBody>
      </p:sp>
      <p:sp>
        <p:nvSpPr>
          <p:cNvPr id="51" name="Wrong backend/runtime path"/>
          <p:cNvSpPr txBox="1"/>
          <p:nvPr/>
        </p:nvSpPr>
        <p:spPr>
          <a:xfrm>
            <a:off x="7269480" y="1947672"/>
            <a:ext cx="3337560" cy="502920"/>
          </a:xfrm>
          <a:prstGeom prst="roundRect">
            <a:avLst/>
          </a:prstGeom>
          <a:solidFill>
            <a:srgbClr val="F4F9FF"/>
          </a:solidFill>
          <a:ln w="9525">
            <a:solidFill>
              <a:srgbClr val="B9D8F5"/>
            </a:solidFill>
          </a:ln>
        </p:spPr>
        <p:txBody>
          <a:bodyPr wrap="square" anchor="mid" lIns="137160" tIns="91440" rIns="137160" bIns="91440"/>
          <a:lstStyle/>
          <a:p>
            <a:pPr/>
            <a:r>
              <a:rPr lang="en-US" sz="1100">
                <a:solidFill>
                  <a:srgbClr val="263238"/>
                </a:solidFill>
              </a:rPr>
              <a:t>Wrong backend/runtime path</a:t>
            </a:r>
            <a:endParaRPr lang="en-US" sz="1100"/>
          </a:p>
        </p:txBody>
      </p:sp>
      <p:sp>
        <p:nvSpPr>
          <p:cNvPr id="42" name="Fix"/>
          <p:cNvSpPr txBox="1"/>
          <p:nvPr/>
        </p:nvSpPr>
        <p:spPr>
          <a:xfrm>
            <a:off x="5852160" y="2816352"/>
            <a:ext cx="1234440" cy="502920"/>
          </a:xfrm>
          <a:prstGeom prst="roundRect">
            <a:avLst/>
          </a:prstGeom>
          <a:solidFill>
            <a:srgbClr val="0B5CAD"/>
          </a:solidFill>
          <a:ln w="9525">
            <a:solidFill>
              <a:srgbClr val="0B5CAD"/>
            </a:solidFill>
          </a:ln>
        </p:spPr>
        <p:txBody>
          <a:bodyPr wrap="square" anchor="mid" lIns="137160" tIns="91440" rIns="137160" bIns="91440"/>
          <a:lstStyle/>
          <a:p>
            <a:pPr/>
            <a:r>
              <a:rPr lang="en-US" sz="1100" b="1">
                <a:solidFill>
                  <a:srgbClr val="FFFFFF"/>
                </a:solidFill>
              </a:rPr>
              <a:t>Fix</a:t>
            </a:r>
            <a:endParaRPr lang="en-US" sz="1100"/>
          </a:p>
        </p:txBody>
      </p:sp>
      <p:sp>
        <p:nvSpPr>
          <p:cNvPr id="52" name="FastAPI + Uvicorn + route checks"/>
          <p:cNvSpPr txBox="1"/>
          <p:nvPr/>
        </p:nvSpPr>
        <p:spPr>
          <a:xfrm>
            <a:off x="7269480" y="2816352"/>
            <a:ext cx="3337560" cy="502920"/>
          </a:xfrm>
          <a:prstGeom prst="roundRect">
            <a:avLst/>
          </a:prstGeom>
          <a:solidFill>
            <a:srgbClr val="F4F9FF"/>
          </a:solidFill>
          <a:ln w="9525">
            <a:solidFill>
              <a:srgbClr val="B9D8F5"/>
            </a:solidFill>
          </a:ln>
        </p:spPr>
        <p:txBody>
          <a:bodyPr wrap="square" anchor="mid" lIns="137160" tIns="91440" rIns="137160" bIns="91440"/>
          <a:lstStyle/>
          <a:p>
            <a:pPr/>
            <a:r>
              <a:rPr lang="en-US" sz="1100">
                <a:solidFill>
                  <a:srgbClr val="263238"/>
                </a:solidFill>
              </a:rPr>
              <a:t>FastAPI + Uvicorn + route checks</a:t>
            </a:r>
            <a:endParaRPr lang="en-US" sz="1100"/>
          </a:p>
        </p:txBody>
      </p:sp>
      <p:sp>
        <p:nvSpPr>
          <p:cNvPr id="43" name="Verify"/>
          <p:cNvSpPr txBox="1"/>
          <p:nvPr/>
        </p:nvSpPr>
        <p:spPr>
          <a:xfrm>
            <a:off x="5852160" y="3685031"/>
            <a:ext cx="1234440" cy="502920"/>
          </a:xfrm>
          <a:prstGeom prst="roundRect">
            <a:avLst/>
          </a:prstGeom>
          <a:solidFill>
            <a:srgbClr val="0B5CAD"/>
          </a:solidFill>
          <a:ln w="9525">
            <a:solidFill>
              <a:srgbClr val="0B5CAD"/>
            </a:solidFill>
          </a:ln>
        </p:spPr>
        <p:txBody>
          <a:bodyPr wrap="square" anchor="mid" lIns="137160" tIns="91440" rIns="137160" bIns="91440"/>
          <a:lstStyle/>
          <a:p>
            <a:pPr/>
            <a:r>
              <a:rPr lang="en-US" sz="1100" b="1">
                <a:solidFill>
                  <a:srgbClr val="FFFFFF"/>
                </a:solidFill>
              </a:rPr>
              <a:t>Verify</a:t>
            </a:r>
            <a:endParaRPr lang="en-US" sz="1100"/>
          </a:p>
        </p:txBody>
      </p:sp>
      <p:sp>
        <p:nvSpPr>
          <p:cNvPr id="53" name="health, docs, OpenAPI, smoke tests"/>
          <p:cNvSpPr txBox="1"/>
          <p:nvPr/>
        </p:nvSpPr>
        <p:spPr>
          <a:xfrm>
            <a:off x="7269480" y="3685031"/>
            <a:ext cx="3337560" cy="502920"/>
          </a:xfrm>
          <a:prstGeom prst="roundRect">
            <a:avLst/>
          </a:prstGeom>
          <a:solidFill>
            <a:srgbClr val="F4F9FF"/>
          </a:solidFill>
          <a:ln w="9525">
            <a:solidFill>
              <a:srgbClr val="B9D8F5"/>
            </a:solidFill>
          </a:ln>
        </p:spPr>
        <p:txBody>
          <a:bodyPr wrap="square" anchor="mid" lIns="137160" tIns="91440" rIns="137160" bIns="91440"/>
          <a:lstStyle/>
          <a:p>
            <a:pPr/>
            <a:r>
              <a:rPr lang="en-US" sz="1100">
                <a:solidFill>
                  <a:srgbClr val="263238"/>
                </a:solidFill>
              </a:rPr>
              <a:t>health, docs, OpenAPI, smoke tests</a:t>
            </a:r>
            <a:endParaRPr lang="en-US" sz="1100"/>
          </a:p>
        </p:txBody>
      </p:sp>
      <p:sp>
        <p:nvSpPr>
          <p:cNvPr id="900" name="Footer"/>
          <p:cNvSpPr txBox="1"/>
          <p:nvPr/>
        </p:nvSpPr>
        <p:spPr>
          <a:xfrm>
            <a:off x="457200" y="6428232"/>
            <a:ext cx="112471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 lIns="137160" tIns="91440" rIns="137160" bIns="91440"/>
          <a:lstStyle/>
          <a:p>
            <a:pPr/>
            <a:r>
              <a:rPr lang="en-US" sz="800">
                <a:solidFill>
                  <a:srgbClr val="6B7A90"/>
                </a:solidFill>
              </a:rPr>
              <a:t>12  |  PDF Toolkit - BTP Presentation</a:t>
            </a:r>
            <a:endParaRPr lang="en-US" sz="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</p:sp>
      <p:sp>
        <p:nvSpPr>
          <p:cNvPr id="2" name="Top blue band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5CAD"/>
          </a:solidFill>
          <a:ln w="9525">
            <a:solidFill>
              <a:srgbClr val="0B5CAD"/>
            </a:solidFill>
          </a:ln>
        </p:spPr>
      </p:sp>
      <p:sp>
        <p:nvSpPr>
          <p:cNvPr id="3" name="Slide title"/>
          <p:cNvSpPr txBox="1"/>
          <p:nvPr/>
        </p:nvSpPr>
        <p:spPr>
          <a:xfrm>
            <a:off x="411480" y="73152"/>
            <a:ext cx="86868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137160" tIns="91440" rIns="137160" bIns="91440"/>
          <a:lstStyle/>
          <a:p>
            <a:pPr/>
            <a:r>
              <a:rPr lang="en-US" sz="2100" b="1">
                <a:solidFill>
                  <a:srgbClr val="FFFFFF"/>
                </a:solidFill>
              </a:rPr>
              <a:t>Results Obtained</a:t>
            </a:r>
            <a:endParaRPr lang="en-US" sz="2100"/>
          </a:p>
        </p:txBody>
      </p:sp>
      <p:sp>
        <p:nvSpPr>
          <p:cNvPr id="4" name="Slide subtitle"/>
          <p:cNvSpPr txBox="1"/>
          <p:nvPr/>
        </p:nvSpPr>
        <p:spPr>
          <a:xfrm>
            <a:off x="9052560" y="109728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mid" lIns="137160" tIns="91440" rIns="137160" bIns="91440"/>
          <a:lstStyle/>
          <a:p>
            <a:pPr/>
            <a:r>
              <a:rPr lang="en-US" sz="1000">
                <a:solidFill>
                  <a:srgbClr val="EAF3FF"/>
                </a:solidFill>
              </a:rPr>
              <a:t>PDF Toolkit BTP</a:t>
            </a:r>
            <a:endParaRPr lang="en-US" sz="1000"/>
          </a:p>
        </p:txBody>
      </p:sp>
      <p:sp>
        <p:nvSpPr>
          <p:cNvPr id="10" name="Bullets"/>
          <p:cNvSpPr txBox="1"/>
          <p:nvPr/>
        </p:nvSpPr>
        <p:spPr>
          <a:xfrm>
            <a:off x="594360" y="1097280"/>
            <a:ext cx="10789920" cy="4480560"/>
          </a:xfrm>
          <a:prstGeom prst="rect">
            <a:avLst/>
          </a:prstGeom>
          <a:noFill/>
          <a:ln>
            <a:noFill/>
          </a:ln>
        </p:spPr>
        <p:txBody>
          <a:bodyPr wrap="square" anchor="t" lIns="137160" tIns="91440" rIns="137160" bIns="91440"/>
          <a:lstStyle/>
          <a:p>
            <a:pPr/>
            <a:r>
              <a:rPr lang="en-US" sz="1700" b="1">
                <a:solidFill>
                  <a:srgbClr val="263238"/>
                </a:solidFill>
              </a:rPr>
              <a:t>Key Points</a:t>
            </a:r>
            <a:endParaRPr lang="en-US" sz="1700"/>
          </a:p>
          <a:p>
            <a:pPr marL="285750" indent="-171450">
              <a:buChar char="•"/>
            </a:pPr>
            <a:r>
              <a:rPr lang="en-US" sz="1700">
                <a:solidFill>
                  <a:srgbClr val="263238"/>
                </a:solidFill>
              </a:rPr>
              <a:t>All major PDF workflows implemented through REST endpoints</a:t>
            </a:r>
            <a:endParaRPr lang="en-US" sz="1700"/>
          </a:p>
          <a:p>
            <a:pPr marL="285750" indent="-171450">
              <a:buChar char="•"/>
            </a:pPr>
            <a:r>
              <a:rPr lang="en-US" sz="1700">
                <a:solidFill>
                  <a:srgbClr val="263238"/>
                </a:solidFill>
              </a:rPr>
              <a:t>Frontend connects to deployed backend successfully</a:t>
            </a:r>
            <a:endParaRPr lang="en-US" sz="1700"/>
          </a:p>
          <a:p>
            <a:pPr marL="285750" indent="-171450">
              <a:buChar char="•"/>
            </a:pPr>
            <a:r>
              <a:rPr lang="en-US" sz="1700">
                <a:solidFill>
                  <a:srgbClr val="263238"/>
                </a:solidFill>
              </a:rPr>
              <a:t>Swagger/OpenAPI documentation available at /docs</a:t>
            </a:r>
            <a:endParaRPr lang="en-US" sz="1700"/>
          </a:p>
          <a:p>
            <a:pPr marL="285750" indent="-171450">
              <a:buChar char="•"/>
            </a:pPr>
            <a:r>
              <a:rPr lang="en-US" sz="1700">
                <a:solidFill>
                  <a:srgbClr val="263238"/>
                </a:solidFill>
              </a:rPr>
              <a:t>Deployment verification checks health, docs, metadata and tool endpoints</a:t>
            </a:r>
            <a:endParaRPr lang="en-US" sz="1700"/>
          </a:p>
        </p:txBody>
      </p:sp>
      <p:sp>
        <p:nvSpPr>
          <p:cNvPr id="900" name="Footer"/>
          <p:cNvSpPr txBox="1"/>
          <p:nvPr/>
        </p:nvSpPr>
        <p:spPr>
          <a:xfrm>
            <a:off x="457200" y="6428232"/>
            <a:ext cx="112471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 lIns="137160" tIns="91440" rIns="137160" bIns="91440"/>
          <a:lstStyle/>
          <a:p>
            <a:pPr/>
            <a:r>
              <a:rPr lang="en-US" sz="800">
                <a:solidFill>
                  <a:srgbClr val="6B7A90"/>
                </a:solidFill>
              </a:rPr>
              <a:t>13  |  PDF Toolkit - BTP Presentation</a:t>
            </a:r>
            <a:endParaRPr lang="en-US" sz="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</p:sp>
      <p:sp>
        <p:nvSpPr>
          <p:cNvPr id="2" name="Top blue band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5CAD"/>
          </a:solidFill>
          <a:ln w="9525">
            <a:solidFill>
              <a:srgbClr val="0B5CAD"/>
            </a:solidFill>
          </a:ln>
        </p:spPr>
      </p:sp>
      <p:sp>
        <p:nvSpPr>
          <p:cNvPr id="3" name="Slide title"/>
          <p:cNvSpPr txBox="1"/>
          <p:nvPr/>
        </p:nvSpPr>
        <p:spPr>
          <a:xfrm>
            <a:off x="411480" y="73152"/>
            <a:ext cx="86868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137160" tIns="91440" rIns="137160" bIns="91440"/>
          <a:lstStyle/>
          <a:p>
            <a:pPr/>
            <a:r>
              <a:rPr lang="en-US" sz="2100" b="1">
                <a:solidFill>
                  <a:srgbClr val="FFFFFF"/>
                </a:solidFill>
              </a:rPr>
              <a:t>What I Learned</a:t>
            </a:r>
            <a:endParaRPr lang="en-US" sz="2100"/>
          </a:p>
        </p:txBody>
      </p:sp>
      <p:sp>
        <p:nvSpPr>
          <p:cNvPr id="4" name="Slide subtitle"/>
          <p:cNvSpPr txBox="1"/>
          <p:nvPr/>
        </p:nvSpPr>
        <p:spPr>
          <a:xfrm>
            <a:off x="9052560" y="109728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mid" lIns="137160" tIns="91440" rIns="137160" bIns="91440"/>
          <a:lstStyle/>
          <a:p>
            <a:pPr/>
            <a:r>
              <a:rPr lang="en-US" sz="1000">
                <a:solidFill>
                  <a:srgbClr val="EAF3FF"/>
                </a:solidFill>
              </a:rPr>
              <a:t>PDF Toolkit BTP</a:t>
            </a:r>
            <a:endParaRPr lang="en-US" sz="1000"/>
          </a:p>
        </p:txBody>
      </p:sp>
      <p:sp>
        <p:nvSpPr>
          <p:cNvPr id="10" name="Bullets"/>
          <p:cNvSpPr txBox="1"/>
          <p:nvPr/>
        </p:nvSpPr>
        <p:spPr>
          <a:xfrm>
            <a:off x="594360" y="1097280"/>
            <a:ext cx="10789920" cy="4480560"/>
          </a:xfrm>
          <a:prstGeom prst="rect">
            <a:avLst/>
          </a:prstGeom>
          <a:noFill/>
          <a:ln>
            <a:noFill/>
          </a:ln>
        </p:spPr>
        <p:txBody>
          <a:bodyPr wrap="square" anchor="t" lIns="137160" tIns="91440" rIns="137160" bIns="91440"/>
          <a:lstStyle/>
          <a:p>
            <a:pPr/>
            <a:r>
              <a:rPr lang="en-US" sz="1700" b="1">
                <a:solidFill>
                  <a:srgbClr val="263238"/>
                </a:solidFill>
              </a:rPr>
              <a:t>Key Points</a:t>
            </a:r>
            <a:endParaRPr lang="en-US" sz="1700"/>
          </a:p>
          <a:p>
            <a:pPr marL="285750" indent="-171450">
              <a:buChar char="•"/>
            </a:pPr>
            <a:r>
              <a:rPr lang="en-US" sz="1700">
                <a:solidFill>
                  <a:srgbClr val="263238"/>
                </a:solidFill>
              </a:rPr>
              <a:t>Designing REST APIs for file upload and download workflows</a:t>
            </a:r>
            <a:endParaRPr lang="en-US" sz="1700"/>
          </a:p>
          <a:p>
            <a:pPr marL="285750" indent="-171450">
              <a:buChar char="•"/>
            </a:pPr>
            <a:r>
              <a:rPr lang="en-US" sz="1700">
                <a:solidFill>
                  <a:srgbClr val="263238"/>
                </a:solidFill>
              </a:rPr>
              <a:t>Handling CORS between two production domains</a:t>
            </a:r>
            <a:endParaRPr lang="en-US" sz="1700"/>
          </a:p>
          <a:p>
            <a:pPr marL="285750" indent="-171450">
              <a:buChar char="•"/>
            </a:pPr>
            <a:r>
              <a:rPr lang="en-US" sz="1700">
                <a:solidFill>
                  <a:srgbClr val="263238"/>
                </a:solidFill>
              </a:rPr>
              <a:t>Deploying Python APIs with Uvicorn on Render</a:t>
            </a:r>
            <a:endParaRPr lang="en-US" sz="1700"/>
          </a:p>
          <a:p>
            <a:pPr marL="285750" indent="-171450">
              <a:buChar char="•"/>
            </a:pPr>
            <a:r>
              <a:rPr lang="en-US" sz="1700">
                <a:solidFill>
                  <a:srgbClr val="263238"/>
                </a:solidFill>
              </a:rPr>
              <a:t>Debugging real production issues using logs, route maps, and verification scripts</a:t>
            </a:r>
            <a:endParaRPr lang="en-US" sz="1700"/>
          </a:p>
        </p:txBody>
      </p:sp>
      <p:sp>
        <p:nvSpPr>
          <p:cNvPr id="900" name="Footer"/>
          <p:cNvSpPr txBox="1"/>
          <p:nvPr/>
        </p:nvSpPr>
        <p:spPr>
          <a:xfrm>
            <a:off x="457200" y="6428232"/>
            <a:ext cx="112471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 lIns="137160" tIns="91440" rIns="137160" bIns="91440"/>
          <a:lstStyle/>
          <a:p>
            <a:pPr/>
            <a:r>
              <a:rPr lang="en-US" sz="800">
                <a:solidFill>
                  <a:srgbClr val="6B7A90"/>
                </a:solidFill>
              </a:rPr>
              <a:t>14  |  PDF Toolkit - BTP Presentation</a:t>
            </a:r>
            <a:endParaRPr lang="en-US" sz="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</p:sp>
      <p:sp>
        <p:nvSpPr>
          <p:cNvPr id="2" name="Top blue band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5CAD"/>
          </a:solidFill>
          <a:ln w="9525">
            <a:solidFill>
              <a:srgbClr val="0B5CAD"/>
            </a:solidFill>
          </a:ln>
        </p:spPr>
      </p:sp>
      <p:sp>
        <p:nvSpPr>
          <p:cNvPr id="3" name="Slide title"/>
          <p:cNvSpPr txBox="1"/>
          <p:nvPr/>
        </p:nvSpPr>
        <p:spPr>
          <a:xfrm>
            <a:off x="411480" y="73152"/>
            <a:ext cx="86868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137160" tIns="91440" rIns="137160" bIns="91440"/>
          <a:lstStyle/>
          <a:p>
            <a:pPr/>
            <a:r>
              <a:rPr lang="en-US" sz="2100" b="1">
                <a:solidFill>
                  <a:srgbClr val="FFFFFF"/>
                </a:solidFill>
              </a:rPr>
              <a:t>Future Improvements</a:t>
            </a:r>
            <a:endParaRPr lang="en-US" sz="2100"/>
          </a:p>
        </p:txBody>
      </p:sp>
      <p:sp>
        <p:nvSpPr>
          <p:cNvPr id="4" name="Slide subtitle"/>
          <p:cNvSpPr txBox="1"/>
          <p:nvPr/>
        </p:nvSpPr>
        <p:spPr>
          <a:xfrm>
            <a:off x="9052560" y="109728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mid" lIns="137160" tIns="91440" rIns="137160" bIns="91440"/>
          <a:lstStyle/>
          <a:p>
            <a:pPr/>
            <a:r>
              <a:rPr lang="en-US" sz="1000">
                <a:solidFill>
                  <a:srgbClr val="EAF3FF"/>
                </a:solidFill>
              </a:rPr>
              <a:t>PDF Toolkit BTP</a:t>
            </a:r>
            <a:endParaRPr lang="en-US" sz="1000"/>
          </a:p>
        </p:txBody>
      </p:sp>
      <p:sp>
        <p:nvSpPr>
          <p:cNvPr id="10" name="Bullets"/>
          <p:cNvSpPr txBox="1"/>
          <p:nvPr/>
        </p:nvSpPr>
        <p:spPr>
          <a:xfrm>
            <a:off x="594360" y="1097280"/>
            <a:ext cx="10789920" cy="4480560"/>
          </a:xfrm>
          <a:prstGeom prst="rect">
            <a:avLst/>
          </a:prstGeom>
          <a:noFill/>
          <a:ln>
            <a:noFill/>
          </a:ln>
        </p:spPr>
        <p:txBody>
          <a:bodyPr wrap="square" anchor="t" lIns="137160" tIns="91440" rIns="137160" bIns="91440"/>
          <a:lstStyle/>
          <a:p>
            <a:pPr/>
            <a:r>
              <a:rPr lang="en-US" sz="1700" b="1">
                <a:solidFill>
                  <a:srgbClr val="263238"/>
                </a:solidFill>
              </a:rPr>
              <a:t>Key Points</a:t>
            </a:r>
            <a:endParaRPr lang="en-US" sz="1700"/>
          </a:p>
          <a:p>
            <a:pPr marL="285750" indent="-171450">
              <a:buChar char="•"/>
            </a:pPr>
            <a:r>
              <a:rPr lang="en-US" sz="1700">
                <a:solidFill>
                  <a:srgbClr val="263238"/>
                </a:solidFill>
              </a:rPr>
              <a:t>User accounts and document history</a:t>
            </a:r>
            <a:endParaRPr lang="en-US" sz="1700"/>
          </a:p>
          <a:p>
            <a:pPr marL="285750" indent="-171450">
              <a:buChar char="•"/>
            </a:pPr>
            <a:r>
              <a:rPr lang="en-US" sz="1700">
                <a:solidFill>
                  <a:srgbClr val="263238"/>
                </a:solidFill>
              </a:rPr>
              <a:t>Queue-based processing for large PDFs</a:t>
            </a:r>
            <a:endParaRPr lang="en-US" sz="1700"/>
          </a:p>
          <a:p>
            <a:pPr marL="285750" indent="-171450">
              <a:buChar char="•"/>
            </a:pPr>
            <a:r>
              <a:rPr lang="en-US" sz="1700">
                <a:solidFill>
                  <a:srgbClr val="263238"/>
                </a:solidFill>
              </a:rPr>
              <a:t>Cloud object storage for temporary files</a:t>
            </a:r>
            <a:endParaRPr lang="en-US" sz="1700"/>
          </a:p>
          <a:p>
            <a:pPr marL="285750" indent="-171450">
              <a:buChar char="•"/>
            </a:pPr>
            <a:r>
              <a:rPr lang="en-US" sz="1700">
                <a:solidFill>
                  <a:srgbClr val="263238"/>
                </a:solidFill>
              </a:rPr>
              <a:t>Batch processing and progress tracking</a:t>
            </a:r>
            <a:endParaRPr lang="en-US" sz="1700"/>
          </a:p>
          <a:p>
            <a:pPr marL="285750" indent="-171450">
              <a:buChar char="•"/>
            </a:pPr>
            <a:r>
              <a:rPr lang="en-US" sz="1700">
                <a:solidFill>
                  <a:srgbClr val="263238"/>
                </a:solidFill>
              </a:rPr>
              <a:t>More conversion formats and OCR support</a:t>
            </a:r>
            <a:endParaRPr lang="en-US" sz="1700"/>
          </a:p>
        </p:txBody>
      </p:sp>
      <p:sp>
        <p:nvSpPr>
          <p:cNvPr id="900" name="Footer"/>
          <p:cNvSpPr txBox="1"/>
          <p:nvPr/>
        </p:nvSpPr>
        <p:spPr>
          <a:xfrm>
            <a:off x="457200" y="6428232"/>
            <a:ext cx="112471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 lIns="137160" tIns="91440" rIns="137160" bIns="91440"/>
          <a:lstStyle/>
          <a:p>
            <a:pPr/>
            <a:r>
              <a:rPr lang="en-US" sz="800">
                <a:solidFill>
                  <a:srgbClr val="6B7A90"/>
                </a:solidFill>
              </a:rPr>
              <a:t>15  |  PDF Toolkit - BTP Presentation</a:t>
            </a:r>
            <a:endParaRPr lang="en-US" sz="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</p:sp>
      <p:sp>
        <p:nvSpPr>
          <p:cNvPr id="2" name="Top blue band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5CAD"/>
          </a:solidFill>
          <a:ln w="9525">
            <a:solidFill>
              <a:srgbClr val="0B5CAD"/>
            </a:solidFill>
          </a:ln>
        </p:spPr>
      </p:sp>
      <p:sp>
        <p:nvSpPr>
          <p:cNvPr id="3" name="Slide title"/>
          <p:cNvSpPr txBox="1"/>
          <p:nvPr/>
        </p:nvSpPr>
        <p:spPr>
          <a:xfrm>
            <a:off x="411480" y="73152"/>
            <a:ext cx="86868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137160" tIns="91440" rIns="137160" bIns="91440"/>
          <a:lstStyle/>
          <a:p>
            <a:pPr/>
            <a:r>
              <a:rPr lang="en-US" sz="2100" b="1">
                <a:solidFill>
                  <a:srgbClr val="FFFFFF"/>
                </a:solidFill>
              </a:rPr>
              <a:t>Conclusion</a:t>
            </a:r>
            <a:endParaRPr lang="en-US" sz="2100"/>
          </a:p>
        </p:txBody>
      </p:sp>
      <p:sp>
        <p:nvSpPr>
          <p:cNvPr id="4" name="Slide subtitle"/>
          <p:cNvSpPr txBox="1"/>
          <p:nvPr/>
        </p:nvSpPr>
        <p:spPr>
          <a:xfrm>
            <a:off x="9052560" y="109728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mid" lIns="137160" tIns="91440" rIns="137160" bIns="91440"/>
          <a:lstStyle/>
          <a:p>
            <a:pPr/>
            <a:r>
              <a:rPr lang="en-US" sz="1000">
                <a:solidFill>
                  <a:srgbClr val="EAF3FF"/>
                </a:solidFill>
              </a:rPr>
              <a:t>PDF Toolkit BTP</a:t>
            </a:r>
            <a:endParaRPr lang="en-US" sz="1000"/>
          </a:p>
        </p:txBody>
      </p:sp>
      <p:sp>
        <p:nvSpPr>
          <p:cNvPr id="10" name="Bullets"/>
          <p:cNvSpPr txBox="1"/>
          <p:nvPr/>
        </p:nvSpPr>
        <p:spPr>
          <a:xfrm>
            <a:off x="594360" y="1097280"/>
            <a:ext cx="10789920" cy="4480560"/>
          </a:xfrm>
          <a:prstGeom prst="rect">
            <a:avLst/>
          </a:prstGeom>
          <a:noFill/>
          <a:ln>
            <a:noFill/>
          </a:ln>
        </p:spPr>
        <p:txBody>
          <a:bodyPr wrap="square" anchor="t" lIns="137160" tIns="91440" rIns="137160" bIns="91440"/>
          <a:lstStyle/>
          <a:p>
            <a:pPr/>
            <a:r>
              <a:rPr lang="en-US" sz="1700" b="1">
                <a:solidFill>
                  <a:srgbClr val="263238"/>
                </a:solidFill>
              </a:rPr>
              <a:t>Key Points</a:t>
            </a:r>
            <a:endParaRPr lang="en-US" sz="1700"/>
          </a:p>
          <a:p>
            <a:pPr marL="285750" indent="-171450">
              <a:buChar char="•"/>
            </a:pPr>
            <a:r>
              <a:rPr lang="en-US" sz="1700">
                <a:solidFill>
                  <a:srgbClr val="263238"/>
                </a:solidFill>
              </a:rPr>
              <a:t>PDF Toolkit demonstrates a complete full-stack PDF platform</a:t>
            </a:r>
            <a:endParaRPr lang="en-US" sz="1700"/>
          </a:p>
          <a:p>
            <a:pPr marL="285750" indent="-171450">
              <a:buChar char="•"/>
            </a:pPr>
            <a:r>
              <a:rPr lang="en-US" sz="1700">
                <a:solidFill>
                  <a:srgbClr val="263238"/>
                </a:solidFill>
              </a:rPr>
              <a:t>React handles the user experience; FastAPI handles processing</a:t>
            </a:r>
            <a:endParaRPr lang="en-US" sz="1700"/>
          </a:p>
          <a:p>
            <a:pPr marL="285750" indent="-171450">
              <a:buChar char="•"/>
            </a:pPr>
            <a:r>
              <a:rPr lang="en-US" sz="1700">
                <a:solidFill>
                  <a:srgbClr val="263238"/>
                </a:solidFill>
              </a:rPr>
              <a:t>Vercel and Render provide public deployment</a:t>
            </a:r>
            <a:endParaRPr lang="en-US" sz="1700"/>
          </a:p>
          <a:p>
            <a:pPr marL="285750" indent="-171450">
              <a:buChar char="•"/>
            </a:pPr>
            <a:r>
              <a:rPr lang="en-US" sz="1700">
                <a:solidFill>
                  <a:srgbClr val="263238"/>
                </a:solidFill>
              </a:rPr>
              <a:t>Debugging work strengthened the final production reliability</a:t>
            </a:r>
            <a:endParaRPr lang="en-US" sz="1700"/>
          </a:p>
        </p:txBody>
      </p:sp>
      <p:sp>
        <p:nvSpPr>
          <p:cNvPr id="900" name="Footer"/>
          <p:cNvSpPr txBox="1"/>
          <p:nvPr/>
        </p:nvSpPr>
        <p:spPr>
          <a:xfrm>
            <a:off x="457200" y="6428232"/>
            <a:ext cx="112471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 lIns="137160" tIns="91440" rIns="137160" bIns="91440"/>
          <a:lstStyle/>
          <a:p>
            <a:pPr/>
            <a:r>
              <a:rPr lang="en-US" sz="800">
                <a:solidFill>
                  <a:srgbClr val="6B7A90"/>
                </a:solidFill>
              </a:rPr>
              <a:t>16  |  PDF Toolkit - BTP Presentation</a:t>
            </a:r>
            <a:endParaRPr lang="en-US" sz="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</p:sp>
      <p:sp>
        <p:nvSpPr>
          <p:cNvPr id="2" name="Top blue band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5CAD"/>
          </a:solidFill>
          <a:ln w="9525">
            <a:solidFill>
              <a:srgbClr val="0B5CAD"/>
            </a:solidFill>
          </a:ln>
        </p:spPr>
      </p:sp>
      <p:sp>
        <p:nvSpPr>
          <p:cNvPr id="3" name="Slide title"/>
          <p:cNvSpPr txBox="1"/>
          <p:nvPr/>
        </p:nvSpPr>
        <p:spPr>
          <a:xfrm>
            <a:off x="411480" y="73152"/>
            <a:ext cx="86868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137160" tIns="91440" rIns="137160" bIns="91440"/>
          <a:lstStyle/>
          <a:p>
            <a:pPr/>
            <a:r>
              <a:rPr lang="en-US" sz="2100" b="1">
                <a:solidFill>
                  <a:srgbClr val="FFFFFF"/>
                </a:solidFill>
              </a:rPr>
              <a:t>Demo Workflow</a:t>
            </a:r>
            <a:endParaRPr lang="en-US" sz="2100"/>
          </a:p>
        </p:txBody>
      </p:sp>
      <p:sp>
        <p:nvSpPr>
          <p:cNvPr id="4" name="Slide subtitle"/>
          <p:cNvSpPr txBox="1"/>
          <p:nvPr/>
        </p:nvSpPr>
        <p:spPr>
          <a:xfrm>
            <a:off x="9052560" y="109728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mid" lIns="137160" tIns="91440" rIns="137160" bIns="91440"/>
          <a:lstStyle/>
          <a:p>
            <a:pPr/>
            <a:r>
              <a:rPr lang="en-US" sz="1000">
                <a:solidFill>
                  <a:srgbClr val="EAF3FF"/>
                </a:solidFill>
              </a:rPr>
              <a:t>PDF Toolkit BTP</a:t>
            </a:r>
            <a:endParaRPr lang="en-US" sz="1000"/>
          </a:p>
        </p:txBody>
      </p:sp>
      <p:sp>
        <p:nvSpPr>
          <p:cNvPr id="10" name="Bullets"/>
          <p:cNvSpPr txBox="1"/>
          <p:nvPr/>
        </p:nvSpPr>
        <p:spPr>
          <a:xfrm>
            <a:off x="594360" y="1097280"/>
            <a:ext cx="4846320" cy="4480560"/>
          </a:xfrm>
          <a:prstGeom prst="rect">
            <a:avLst/>
          </a:prstGeom>
          <a:noFill/>
          <a:ln>
            <a:noFill/>
          </a:ln>
        </p:spPr>
        <p:txBody>
          <a:bodyPr wrap="square" anchor="t" lIns="137160" tIns="91440" rIns="137160" bIns="91440"/>
          <a:lstStyle/>
          <a:p>
            <a:pPr/>
            <a:r>
              <a:rPr lang="en-US" sz="1700" b="1">
                <a:solidFill>
                  <a:srgbClr val="263238"/>
                </a:solidFill>
              </a:rPr>
              <a:t>Key Points</a:t>
            </a:r>
            <a:endParaRPr lang="en-US" sz="1700"/>
          </a:p>
          <a:p>
            <a:pPr marL="285750" indent="-171450">
              <a:buChar char="•"/>
            </a:pPr>
            <a:r>
              <a:rPr lang="en-US" sz="1700">
                <a:solidFill>
                  <a:srgbClr val="263238"/>
                </a:solidFill>
              </a:rPr>
              <a:t>Open deployed frontend</a:t>
            </a:r>
            <a:endParaRPr lang="en-US" sz="1700"/>
          </a:p>
          <a:p>
            <a:pPr marL="285750" indent="-171450">
              <a:buChar char="•"/>
            </a:pPr>
            <a:r>
              <a:rPr lang="en-US" sz="1700">
                <a:solidFill>
                  <a:srgbClr val="263238"/>
                </a:solidFill>
              </a:rPr>
              <a:t>Choose a PDF operation such as Compress or Merge</a:t>
            </a:r>
            <a:endParaRPr lang="en-US" sz="1700"/>
          </a:p>
          <a:p>
            <a:pPr marL="285750" indent="-171450">
              <a:buChar char="•"/>
            </a:pPr>
            <a:r>
              <a:rPr lang="en-US" sz="1700">
                <a:solidFill>
                  <a:srgbClr val="263238"/>
                </a:solidFill>
              </a:rPr>
              <a:t>Upload input file and submit</a:t>
            </a:r>
            <a:endParaRPr lang="en-US" sz="1700"/>
          </a:p>
          <a:p>
            <a:pPr marL="285750" indent="-171450">
              <a:buChar char="•"/>
            </a:pPr>
            <a:r>
              <a:rPr lang="en-US" sz="1700">
                <a:solidFill>
                  <a:srgbClr val="263238"/>
                </a:solidFill>
              </a:rPr>
              <a:t>Frontend sends REST request to Render API</a:t>
            </a:r>
            <a:endParaRPr lang="en-US" sz="1700"/>
          </a:p>
          <a:p>
            <a:pPr marL="285750" indent="-171450">
              <a:buChar char="•"/>
            </a:pPr>
            <a:r>
              <a:rPr lang="en-US" sz="1700">
                <a:solidFill>
                  <a:srgbClr val="263238"/>
                </a:solidFill>
              </a:rPr>
              <a:t>Download and verify the processed output</a:t>
            </a:r>
            <a:endParaRPr lang="en-US" sz="1700"/>
          </a:p>
        </p:txBody>
      </p:sp>
      <p:sp>
        <p:nvSpPr>
          <p:cNvPr id="40" name="Open"/>
          <p:cNvSpPr txBox="1"/>
          <p:nvPr/>
        </p:nvSpPr>
        <p:spPr>
          <a:xfrm>
            <a:off x="1005840" y="2880360"/>
            <a:ext cx="1234440" cy="685800"/>
          </a:xfrm>
          <a:prstGeom prst="roundRect">
            <a:avLst/>
          </a:prstGeom>
          <a:solidFill>
            <a:srgbClr val="0B5CAD"/>
          </a:solidFill>
          <a:ln w="9525">
            <a:solidFill>
              <a:srgbClr val="0B5CAD"/>
            </a:solidFill>
          </a:ln>
        </p:spPr>
        <p:txBody>
          <a:bodyPr wrap="square" anchor="mid" lIns="137160" tIns="91440" rIns="137160" bIns="91440"/>
          <a:lstStyle/>
          <a:p>
            <a:pPr/>
            <a:r>
              <a:rPr lang="en-US" sz="1200" b="1">
                <a:solidFill>
                  <a:srgbClr val="FFFFFF"/>
                </a:solidFill>
              </a:rPr>
              <a:t>Open</a:t>
            </a:r>
            <a:endParaRPr lang="en-US" sz="1200"/>
          </a:p>
        </p:txBody>
      </p:sp>
      <p:cxnSp>
        <p:nvCxnSpPr>
          <p:cNvPr id="60" name="Demo arrow 0"/>
          <p:cNvCxnSpPr/>
          <p:nvPr/>
        </p:nvCxnSpPr>
        <p:spPr>
          <a:xfrm>
            <a:off x="2240280" y="3218688"/>
            <a:ext cx="777239" cy="0"/>
          </a:xfrm>
          <a:prstGeom prst="straightConnector1">
            <a:avLst/>
          </a:prstGeom>
          <a:ln w="25400">
            <a:solidFill>
              <a:srgbClr val="1976D2"/>
            </a:solidFill>
            <a:headEnd type="triangle"/>
          </a:ln>
        </p:spPr>
      </p:cxnSp>
      <p:sp>
        <p:nvSpPr>
          <p:cNvPr id="41" name="Choose"/>
          <p:cNvSpPr txBox="1"/>
          <p:nvPr/>
        </p:nvSpPr>
        <p:spPr>
          <a:xfrm>
            <a:off x="3017520" y="2880360"/>
            <a:ext cx="1234440" cy="685800"/>
          </a:xfrm>
          <a:prstGeom prst="roundRect">
            <a:avLst/>
          </a:prstGeom>
          <a:solidFill>
            <a:srgbClr val="0B5CAD"/>
          </a:solidFill>
          <a:ln w="9525">
            <a:solidFill>
              <a:srgbClr val="0B5CAD"/>
            </a:solidFill>
          </a:ln>
        </p:spPr>
        <p:txBody>
          <a:bodyPr wrap="square" anchor="mid" lIns="137160" tIns="91440" rIns="137160" bIns="91440"/>
          <a:lstStyle/>
          <a:p>
            <a:pPr/>
            <a:r>
              <a:rPr lang="en-US" sz="1200" b="1">
                <a:solidFill>
                  <a:srgbClr val="FFFFFF"/>
                </a:solidFill>
              </a:rPr>
              <a:t>Choose</a:t>
            </a:r>
            <a:endParaRPr lang="en-US" sz="1200"/>
          </a:p>
        </p:txBody>
      </p:sp>
      <p:cxnSp>
        <p:nvCxnSpPr>
          <p:cNvPr id="61" name="Demo arrow 1"/>
          <p:cNvCxnSpPr/>
          <p:nvPr/>
        </p:nvCxnSpPr>
        <p:spPr>
          <a:xfrm>
            <a:off x="4251960" y="3218688"/>
            <a:ext cx="777239" cy="0"/>
          </a:xfrm>
          <a:prstGeom prst="straightConnector1">
            <a:avLst/>
          </a:prstGeom>
          <a:ln w="25400">
            <a:solidFill>
              <a:srgbClr val="1976D2"/>
            </a:solidFill>
            <a:headEnd type="triangle"/>
          </a:ln>
        </p:spPr>
      </p:cxnSp>
      <p:sp>
        <p:nvSpPr>
          <p:cNvPr id="42" name="Upload"/>
          <p:cNvSpPr txBox="1"/>
          <p:nvPr/>
        </p:nvSpPr>
        <p:spPr>
          <a:xfrm>
            <a:off x="5029200" y="2880360"/>
            <a:ext cx="1234440" cy="685800"/>
          </a:xfrm>
          <a:prstGeom prst="roundRect">
            <a:avLst/>
          </a:prstGeom>
          <a:solidFill>
            <a:srgbClr val="0B5CAD"/>
          </a:solidFill>
          <a:ln w="9525">
            <a:solidFill>
              <a:srgbClr val="0B5CAD"/>
            </a:solidFill>
          </a:ln>
        </p:spPr>
        <p:txBody>
          <a:bodyPr wrap="square" anchor="mid" lIns="137160" tIns="91440" rIns="137160" bIns="91440"/>
          <a:lstStyle/>
          <a:p>
            <a:pPr/>
            <a:r>
              <a:rPr lang="en-US" sz="1200" b="1">
                <a:solidFill>
                  <a:srgbClr val="FFFFFF"/>
                </a:solidFill>
              </a:rPr>
              <a:t>Upload</a:t>
            </a:r>
            <a:endParaRPr lang="en-US" sz="1200"/>
          </a:p>
        </p:txBody>
      </p:sp>
      <p:cxnSp>
        <p:nvCxnSpPr>
          <p:cNvPr id="62" name="Demo arrow 2"/>
          <p:cNvCxnSpPr/>
          <p:nvPr/>
        </p:nvCxnSpPr>
        <p:spPr>
          <a:xfrm>
            <a:off x="6263640" y="3218688"/>
            <a:ext cx="777239" cy="0"/>
          </a:xfrm>
          <a:prstGeom prst="straightConnector1">
            <a:avLst/>
          </a:prstGeom>
          <a:ln w="25400">
            <a:solidFill>
              <a:srgbClr val="1976D2"/>
            </a:solidFill>
            <a:headEnd type="triangle"/>
          </a:ln>
        </p:spPr>
      </p:cxnSp>
      <p:sp>
        <p:nvSpPr>
          <p:cNvPr id="43" name="Process"/>
          <p:cNvSpPr txBox="1"/>
          <p:nvPr/>
        </p:nvSpPr>
        <p:spPr>
          <a:xfrm>
            <a:off x="7040880" y="2880360"/>
            <a:ext cx="1234440" cy="685800"/>
          </a:xfrm>
          <a:prstGeom prst="roundRect">
            <a:avLst/>
          </a:prstGeom>
          <a:solidFill>
            <a:srgbClr val="0B5CAD"/>
          </a:solidFill>
          <a:ln w="9525">
            <a:solidFill>
              <a:srgbClr val="0B5CAD"/>
            </a:solidFill>
          </a:ln>
        </p:spPr>
        <p:txBody>
          <a:bodyPr wrap="square" anchor="mid" lIns="137160" tIns="91440" rIns="137160" bIns="91440"/>
          <a:lstStyle/>
          <a:p>
            <a:pPr/>
            <a:r>
              <a:rPr lang="en-US" sz="1200" b="1">
                <a:solidFill>
                  <a:srgbClr val="FFFFFF"/>
                </a:solidFill>
              </a:rPr>
              <a:t>Process</a:t>
            </a:r>
            <a:endParaRPr lang="en-US" sz="1200"/>
          </a:p>
        </p:txBody>
      </p:sp>
      <p:cxnSp>
        <p:nvCxnSpPr>
          <p:cNvPr id="63" name="Demo arrow 3"/>
          <p:cNvCxnSpPr/>
          <p:nvPr/>
        </p:nvCxnSpPr>
        <p:spPr>
          <a:xfrm>
            <a:off x="8275320" y="3218688"/>
            <a:ext cx="777239" cy="0"/>
          </a:xfrm>
          <a:prstGeom prst="straightConnector1">
            <a:avLst/>
          </a:prstGeom>
          <a:ln w="25400">
            <a:solidFill>
              <a:srgbClr val="1976D2"/>
            </a:solidFill>
            <a:headEnd type="triangle"/>
          </a:ln>
        </p:spPr>
      </p:cxnSp>
      <p:sp>
        <p:nvSpPr>
          <p:cNvPr id="44" name="Download"/>
          <p:cNvSpPr txBox="1"/>
          <p:nvPr/>
        </p:nvSpPr>
        <p:spPr>
          <a:xfrm>
            <a:off x="9052560" y="2880360"/>
            <a:ext cx="1234440" cy="685800"/>
          </a:xfrm>
          <a:prstGeom prst="roundRect">
            <a:avLst/>
          </a:prstGeom>
          <a:solidFill>
            <a:srgbClr val="0B5CAD"/>
          </a:solidFill>
          <a:ln w="9525">
            <a:solidFill>
              <a:srgbClr val="0B5CAD"/>
            </a:solidFill>
          </a:ln>
        </p:spPr>
        <p:txBody>
          <a:bodyPr wrap="square" anchor="mid" lIns="137160" tIns="91440" rIns="137160" bIns="91440"/>
          <a:lstStyle/>
          <a:p>
            <a:pPr/>
            <a:r>
              <a:rPr lang="en-US" sz="1200" b="1">
                <a:solidFill>
                  <a:srgbClr val="FFFFFF"/>
                </a:solidFill>
              </a:rPr>
              <a:t>Download</a:t>
            </a:r>
            <a:endParaRPr lang="en-US" sz="1200"/>
          </a:p>
        </p:txBody>
      </p:sp>
      <p:sp>
        <p:nvSpPr>
          <p:cNvPr id="900" name="Footer"/>
          <p:cNvSpPr txBox="1"/>
          <p:nvPr/>
        </p:nvSpPr>
        <p:spPr>
          <a:xfrm>
            <a:off x="457200" y="6428232"/>
            <a:ext cx="112471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 lIns="137160" tIns="91440" rIns="137160" bIns="91440"/>
          <a:lstStyle/>
          <a:p>
            <a:pPr/>
            <a:r>
              <a:rPr lang="en-US" sz="800">
                <a:solidFill>
                  <a:srgbClr val="6B7A90"/>
                </a:solidFill>
              </a:rPr>
              <a:t>17  |  PDF Toolkit - BTP Presentation</a:t>
            </a:r>
            <a:endParaRPr lang="en-US" sz="8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</p:sp>
      <p:sp>
        <p:nvSpPr>
          <p:cNvPr id="2" name="Top blue band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5CAD"/>
          </a:solidFill>
          <a:ln w="9525">
            <a:solidFill>
              <a:srgbClr val="0B5CAD"/>
            </a:solidFill>
          </a:ln>
        </p:spPr>
      </p:sp>
      <p:sp>
        <p:nvSpPr>
          <p:cNvPr id="3" name="Slide title"/>
          <p:cNvSpPr txBox="1"/>
          <p:nvPr/>
        </p:nvSpPr>
        <p:spPr>
          <a:xfrm>
            <a:off x="411480" y="73152"/>
            <a:ext cx="86868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137160" tIns="91440" rIns="137160" bIns="91440"/>
          <a:lstStyle/>
          <a:p>
            <a:pPr/>
            <a:r>
              <a:rPr lang="en-US" sz="2100" b="1">
                <a:solidFill>
                  <a:srgbClr val="FFFFFF"/>
                </a:solidFill>
              </a:rPr>
              <a:t>Live Demo Screenshots</a:t>
            </a:r>
            <a:endParaRPr lang="en-US" sz="2100"/>
          </a:p>
        </p:txBody>
      </p:sp>
      <p:sp>
        <p:nvSpPr>
          <p:cNvPr id="4" name="Slide subtitle"/>
          <p:cNvSpPr txBox="1"/>
          <p:nvPr/>
        </p:nvSpPr>
        <p:spPr>
          <a:xfrm>
            <a:off x="9052560" y="109728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mid" lIns="137160" tIns="91440" rIns="137160" bIns="91440"/>
          <a:lstStyle/>
          <a:p>
            <a:pPr/>
            <a:r>
              <a:rPr lang="en-US" sz="1000">
                <a:solidFill>
                  <a:srgbClr val="EAF3FF"/>
                </a:solidFill>
              </a:rPr>
              <a:t>PDF Toolkit BTP</a:t>
            </a:r>
            <a:endParaRPr lang="en-US" sz="1000"/>
          </a:p>
        </p:txBody>
      </p:sp>
      <p:sp>
        <p:nvSpPr>
          <p:cNvPr id="10" name="Bullets"/>
          <p:cNvSpPr txBox="1"/>
          <p:nvPr/>
        </p:nvSpPr>
        <p:spPr>
          <a:xfrm>
            <a:off x="594360" y="1097280"/>
            <a:ext cx="4846320" cy="4480560"/>
          </a:xfrm>
          <a:prstGeom prst="rect">
            <a:avLst/>
          </a:prstGeom>
          <a:noFill/>
          <a:ln>
            <a:noFill/>
          </a:ln>
        </p:spPr>
        <p:txBody>
          <a:bodyPr wrap="square" anchor="t" lIns="137160" tIns="91440" rIns="137160" bIns="91440"/>
          <a:lstStyle/>
          <a:p>
            <a:pPr/>
            <a:r>
              <a:rPr lang="en-US" sz="1700" b="1">
                <a:solidFill>
                  <a:srgbClr val="263238"/>
                </a:solidFill>
              </a:rPr>
              <a:t>Key Points</a:t>
            </a:r>
            <a:endParaRPr lang="en-US" sz="1700"/>
          </a:p>
          <a:p>
            <a:pPr marL="285750" indent="-171450">
              <a:buChar char="•"/>
            </a:pPr>
            <a:r>
              <a:rPr lang="en-US" sz="1700">
                <a:solidFill>
                  <a:srgbClr val="263238"/>
                </a:solidFill>
              </a:rPr>
              <a:t>Frontend home/tools screen</a:t>
            </a:r>
            <a:endParaRPr lang="en-US" sz="1700"/>
          </a:p>
          <a:p>
            <a:pPr marL="285750" indent="-171450">
              <a:buChar char="•"/>
            </a:pPr>
            <a:r>
              <a:rPr lang="en-US" sz="1700">
                <a:solidFill>
                  <a:srgbClr val="263238"/>
                </a:solidFill>
              </a:rPr>
              <a:t>File upload and processing state</a:t>
            </a:r>
            <a:endParaRPr lang="en-US" sz="1700"/>
          </a:p>
          <a:p>
            <a:pPr marL="285750" indent="-171450">
              <a:buChar char="•"/>
            </a:pPr>
            <a:r>
              <a:rPr lang="en-US" sz="1700">
                <a:solidFill>
                  <a:srgbClr val="263238"/>
                </a:solidFill>
              </a:rPr>
              <a:t>Downloaded output result</a:t>
            </a:r>
            <a:endParaRPr lang="en-US" sz="1700"/>
          </a:p>
          <a:p>
            <a:pPr marL="285750" indent="-171450">
              <a:buChar char="•"/>
            </a:pPr>
            <a:r>
              <a:rPr lang="en-US" sz="1700">
                <a:solidFill>
                  <a:srgbClr val="263238"/>
                </a:solidFill>
              </a:rPr>
              <a:t>Backend health endpoint response</a:t>
            </a:r>
            <a:endParaRPr lang="en-US" sz="1700"/>
          </a:p>
        </p:txBody>
      </p:sp>
      <p:sp>
        <p:nvSpPr>
          <p:cNvPr id="40" name="Frontend screenshot placeholder"/>
          <p:cNvSpPr/>
          <p:nvPr/>
        </p:nvSpPr>
        <p:spPr>
          <a:xfrm>
            <a:off x="5623560" y="987552"/>
            <a:ext cx="2423160" cy="1874519"/>
          </a:xfrm>
          <a:prstGeom prst="roundRect">
            <a:avLst/>
          </a:prstGeom>
          <a:solidFill>
            <a:srgbClr val="F4F9FF"/>
          </a:solidFill>
          <a:ln w="9525">
            <a:solidFill>
              <a:srgbClr val="8BBCE8"/>
            </a:solidFill>
          </a:ln>
        </p:spPr>
      </p:sp>
      <p:sp>
        <p:nvSpPr>
          <p:cNvPr id="41" name="Frontend screenshot"/>
          <p:cNvSpPr txBox="1"/>
          <p:nvPr/>
        </p:nvSpPr>
        <p:spPr>
          <a:xfrm>
            <a:off x="5852160" y="1650492"/>
            <a:ext cx="1965960" cy="548640"/>
          </a:xfrm>
          <a:prstGeom prst="rect">
            <a:avLst/>
          </a:prstGeom>
          <a:noFill/>
          <a:ln>
            <a:noFill/>
          </a:ln>
        </p:spPr>
        <p:txBody>
          <a:bodyPr wrap="square" anchor="mid" lIns="137160" tIns="91440" rIns="137160" bIns="91440"/>
          <a:lstStyle/>
          <a:p>
            <a:pPr/>
            <a:r>
              <a:rPr lang="en-US" sz="1500" b="1">
                <a:solidFill>
                  <a:srgbClr val="0B5CAD"/>
                </a:solidFill>
              </a:rPr>
              <a:t>Frontend screenshot</a:t>
            </a:r>
            <a:endParaRPr lang="en-US" sz="1500"/>
          </a:p>
          <a:p>
            <a:pPr/>
            <a:r>
              <a:rPr lang="en-US" sz="1500">
                <a:solidFill>
                  <a:srgbClr val="0B5CAD"/>
                </a:solidFill>
              </a:rPr>
              <a:t>Replace with actual screenshot</a:t>
            </a:r>
            <a:endParaRPr lang="en-US" sz="1500"/>
          </a:p>
        </p:txBody>
      </p:sp>
      <p:sp>
        <p:nvSpPr>
          <p:cNvPr id="45" name="Processing screenshot placeholder"/>
          <p:cNvSpPr/>
          <p:nvPr/>
        </p:nvSpPr>
        <p:spPr>
          <a:xfrm>
            <a:off x="8275320" y="987552"/>
            <a:ext cx="2423160" cy="1874519"/>
          </a:xfrm>
          <a:prstGeom prst="roundRect">
            <a:avLst/>
          </a:prstGeom>
          <a:solidFill>
            <a:srgbClr val="F4F9FF"/>
          </a:solidFill>
          <a:ln w="9525">
            <a:solidFill>
              <a:srgbClr val="8BBCE8"/>
            </a:solidFill>
          </a:ln>
        </p:spPr>
      </p:sp>
      <p:sp>
        <p:nvSpPr>
          <p:cNvPr id="46" name="Processing screenshot"/>
          <p:cNvSpPr txBox="1"/>
          <p:nvPr/>
        </p:nvSpPr>
        <p:spPr>
          <a:xfrm>
            <a:off x="8503920" y="1650492"/>
            <a:ext cx="1965960" cy="548640"/>
          </a:xfrm>
          <a:prstGeom prst="rect">
            <a:avLst/>
          </a:prstGeom>
          <a:noFill/>
          <a:ln>
            <a:noFill/>
          </a:ln>
        </p:spPr>
        <p:txBody>
          <a:bodyPr wrap="square" anchor="mid" lIns="137160" tIns="91440" rIns="137160" bIns="91440"/>
          <a:lstStyle/>
          <a:p>
            <a:pPr/>
            <a:r>
              <a:rPr lang="en-US" sz="1500" b="1">
                <a:solidFill>
                  <a:srgbClr val="0B5CAD"/>
                </a:solidFill>
              </a:rPr>
              <a:t>Processing screenshot</a:t>
            </a:r>
            <a:endParaRPr lang="en-US" sz="1500"/>
          </a:p>
          <a:p>
            <a:pPr/>
            <a:r>
              <a:rPr lang="en-US" sz="1500">
                <a:solidFill>
                  <a:srgbClr val="0B5CAD"/>
                </a:solidFill>
              </a:rPr>
              <a:t>Replace with actual screenshot</a:t>
            </a:r>
            <a:endParaRPr lang="en-US" sz="1500"/>
          </a:p>
        </p:txBody>
      </p:sp>
      <p:sp>
        <p:nvSpPr>
          <p:cNvPr id="50" name="Swagger /docs screenshot placeholder"/>
          <p:cNvSpPr/>
          <p:nvPr/>
        </p:nvSpPr>
        <p:spPr>
          <a:xfrm>
            <a:off x="5623560" y="3246120"/>
            <a:ext cx="5074920" cy="1874519"/>
          </a:xfrm>
          <a:prstGeom prst="roundRect">
            <a:avLst/>
          </a:prstGeom>
          <a:solidFill>
            <a:srgbClr val="F4F9FF"/>
          </a:solidFill>
          <a:ln w="9525">
            <a:solidFill>
              <a:srgbClr val="8BBCE8"/>
            </a:solidFill>
          </a:ln>
        </p:spPr>
      </p:sp>
      <p:sp>
        <p:nvSpPr>
          <p:cNvPr id="51" name="Swagger /docs screenshot"/>
          <p:cNvSpPr txBox="1"/>
          <p:nvPr/>
        </p:nvSpPr>
        <p:spPr>
          <a:xfrm>
            <a:off x="5852160" y="3909059"/>
            <a:ext cx="4617720" cy="548640"/>
          </a:xfrm>
          <a:prstGeom prst="rect">
            <a:avLst/>
          </a:prstGeom>
          <a:noFill/>
          <a:ln>
            <a:noFill/>
          </a:ln>
        </p:spPr>
        <p:txBody>
          <a:bodyPr wrap="square" anchor="mid" lIns="137160" tIns="91440" rIns="137160" bIns="91440"/>
          <a:lstStyle/>
          <a:p>
            <a:pPr/>
            <a:r>
              <a:rPr lang="en-US" sz="1500" b="1">
                <a:solidFill>
                  <a:srgbClr val="0B5CAD"/>
                </a:solidFill>
              </a:rPr>
              <a:t>Swagger /docs screenshot</a:t>
            </a:r>
            <a:endParaRPr lang="en-US" sz="1500"/>
          </a:p>
          <a:p>
            <a:pPr/>
            <a:r>
              <a:rPr lang="en-US" sz="1500">
                <a:solidFill>
                  <a:srgbClr val="0B5CAD"/>
                </a:solidFill>
              </a:rPr>
              <a:t>Replace with actual screenshot</a:t>
            </a:r>
            <a:endParaRPr lang="en-US" sz="1500"/>
          </a:p>
        </p:txBody>
      </p:sp>
      <p:sp>
        <p:nvSpPr>
          <p:cNvPr id="900" name="Footer"/>
          <p:cNvSpPr txBox="1"/>
          <p:nvPr/>
        </p:nvSpPr>
        <p:spPr>
          <a:xfrm>
            <a:off x="457200" y="6428232"/>
            <a:ext cx="112471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 lIns="137160" tIns="91440" rIns="137160" bIns="91440"/>
          <a:lstStyle/>
          <a:p>
            <a:pPr/>
            <a:r>
              <a:rPr lang="en-US" sz="800">
                <a:solidFill>
                  <a:srgbClr val="6B7A90"/>
                </a:solidFill>
              </a:rPr>
              <a:t>18  |  PDF Toolkit - BTP Presentation</a:t>
            </a:r>
            <a:endParaRPr lang="en-US" sz="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</p:sp>
      <p:sp>
        <p:nvSpPr>
          <p:cNvPr id="2" name="Top blue band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5CAD"/>
          </a:solidFill>
          <a:ln w="9525">
            <a:solidFill>
              <a:srgbClr val="0B5CAD"/>
            </a:solidFill>
          </a:ln>
        </p:spPr>
      </p:sp>
      <p:sp>
        <p:nvSpPr>
          <p:cNvPr id="3" name="Slide title"/>
          <p:cNvSpPr txBox="1"/>
          <p:nvPr/>
        </p:nvSpPr>
        <p:spPr>
          <a:xfrm>
            <a:off x="411480" y="73152"/>
            <a:ext cx="86868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137160" tIns="91440" rIns="137160" bIns="91440"/>
          <a:lstStyle/>
          <a:p>
            <a:pPr/>
            <a:r>
              <a:rPr lang="en-US" sz="2100" b="1">
                <a:solidFill>
                  <a:srgbClr val="FFFFFF"/>
                </a:solidFill>
              </a:rPr>
              <a:t>API Documentation</a:t>
            </a:r>
            <a:endParaRPr lang="en-US" sz="2100"/>
          </a:p>
        </p:txBody>
      </p:sp>
      <p:sp>
        <p:nvSpPr>
          <p:cNvPr id="4" name="Slide subtitle"/>
          <p:cNvSpPr txBox="1"/>
          <p:nvPr/>
        </p:nvSpPr>
        <p:spPr>
          <a:xfrm>
            <a:off x="9052560" y="109728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mid" lIns="137160" tIns="91440" rIns="137160" bIns="91440"/>
          <a:lstStyle/>
          <a:p>
            <a:pPr/>
            <a:r>
              <a:rPr lang="en-US" sz="1000">
                <a:solidFill>
                  <a:srgbClr val="EAF3FF"/>
                </a:solidFill>
              </a:rPr>
              <a:t>PDF Toolkit BTP</a:t>
            </a:r>
            <a:endParaRPr lang="en-US" sz="1000"/>
          </a:p>
        </p:txBody>
      </p:sp>
      <p:sp>
        <p:nvSpPr>
          <p:cNvPr id="10" name="Bullets"/>
          <p:cNvSpPr txBox="1"/>
          <p:nvPr/>
        </p:nvSpPr>
        <p:spPr>
          <a:xfrm>
            <a:off x="594360" y="1097280"/>
            <a:ext cx="4846320" cy="4480560"/>
          </a:xfrm>
          <a:prstGeom prst="rect">
            <a:avLst/>
          </a:prstGeom>
          <a:noFill/>
          <a:ln>
            <a:noFill/>
          </a:ln>
        </p:spPr>
        <p:txBody>
          <a:bodyPr wrap="square" anchor="t" lIns="137160" tIns="91440" rIns="137160" bIns="91440"/>
          <a:lstStyle/>
          <a:p>
            <a:pPr/>
            <a:r>
              <a:rPr lang="en-US" sz="1700" b="1">
                <a:solidFill>
                  <a:srgbClr val="263238"/>
                </a:solidFill>
              </a:rPr>
              <a:t>Key Points</a:t>
            </a:r>
            <a:endParaRPr lang="en-US" sz="1700"/>
          </a:p>
          <a:p>
            <a:pPr marL="285750" indent="-171450">
              <a:buChar char="•"/>
            </a:pPr>
            <a:r>
              <a:rPr lang="en-US" sz="1700">
                <a:solidFill>
                  <a:srgbClr val="263238"/>
                </a:solidFill>
              </a:rPr>
              <a:t>Swagger UI generated automatically by FastAPI</a:t>
            </a:r>
            <a:endParaRPr lang="en-US" sz="1700"/>
          </a:p>
          <a:p>
            <a:pPr marL="285750" indent="-171450">
              <a:buChar char="•"/>
            </a:pPr>
            <a:r>
              <a:rPr lang="en-US" sz="1700">
                <a:solidFill>
                  <a:srgbClr val="263238"/>
                </a:solidFill>
              </a:rPr>
              <a:t>OpenAPI schema confirms available routes and request formats</a:t>
            </a:r>
            <a:endParaRPr lang="en-US" sz="1700"/>
          </a:p>
          <a:p>
            <a:pPr marL="285750" indent="-171450">
              <a:buChar char="•"/>
            </a:pPr>
            <a:r>
              <a:rPr lang="en-US" sz="1700">
                <a:solidFill>
                  <a:srgbClr val="263238"/>
                </a:solidFill>
              </a:rPr>
              <a:t>Important routes: /health, /ready, /api/meta, /api/pdf/*</a:t>
            </a:r>
            <a:endParaRPr lang="en-US" sz="1700"/>
          </a:p>
          <a:p>
            <a:pPr marL="285750" indent="-171450">
              <a:buChar char="•"/>
            </a:pPr>
            <a:r>
              <a:rPr lang="en-US" sz="1700">
                <a:solidFill>
                  <a:srgbClr val="263238"/>
                </a:solidFill>
              </a:rPr>
              <a:t>Useful for testing and viva explanation</a:t>
            </a:r>
            <a:endParaRPr lang="en-US" sz="1700"/>
          </a:p>
        </p:txBody>
      </p:sp>
      <p:sp>
        <p:nvSpPr>
          <p:cNvPr id="40" name="Swagger UI screenshot placeholder"/>
          <p:cNvSpPr/>
          <p:nvPr/>
        </p:nvSpPr>
        <p:spPr>
          <a:xfrm>
            <a:off x="5715000" y="960120"/>
            <a:ext cx="5166360" cy="4389120"/>
          </a:xfrm>
          <a:prstGeom prst="roundRect">
            <a:avLst/>
          </a:prstGeom>
          <a:solidFill>
            <a:srgbClr val="F4F9FF"/>
          </a:solidFill>
          <a:ln w="9525">
            <a:solidFill>
              <a:srgbClr val="8BBCE8"/>
            </a:solidFill>
          </a:ln>
        </p:spPr>
      </p:sp>
      <p:sp>
        <p:nvSpPr>
          <p:cNvPr id="41" name="Swagger UI screenshot"/>
          <p:cNvSpPr txBox="1"/>
          <p:nvPr/>
        </p:nvSpPr>
        <p:spPr>
          <a:xfrm>
            <a:off x="5943600" y="2880360"/>
            <a:ext cx="4709160" cy="548640"/>
          </a:xfrm>
          <a:prstGeom prst="rect">
            <a:avLst/>
          </a:prstGeom>
          <a:noFill/>
          <a:ln>
            <a:noFill/>
          </a:ln>
        </p:spPr>
        <p:txBody>
          <a:bodyPr wrap="square" anchor="mid" lIns="137160" tIns="91440" rIns="137160" bIns="91440"/>
          <a:lstStyle/>
          <a:p>
            <a:pPr/>
            <a:r>
              <a:rPr lang="en-US" sz="1500" b="1">
                <a:solidFill>
                  <a:srgbClr val="0B5CAD"/>
                </a:solidFill>
              </a:rPr>
              <a:t>Swagger UI screenshot</a:t>
            </a:r>
            <a:endParaRPr lang="en-US" sz="1500"/>
          </a:p>
          <a:p>
            <a:pPr/>
            <a:r>
              <a:rPr lang="en-US" sz="1500">
                <a:solidFill>
                  <a:srgbClr val="0B5CAD"/>
                </a:solidFill>
              </a:rPr>
              <a:t>Replace with actual screenshot</a:t>
            </a:r>
            <a:endParaRPr lang="en-US" sz="1500"/>
          </a:p>
        </p:txBody>
      </p:sp>
      <p:sp>
        <p:nvSpPr>
          <p:cNvPr id="900" name="Footer"/>
          <p:cNvSpPr txBox="1"/>
          <p:nvPr/>
        </p:nvSpPr>
        <p:spPr>
          <a:xfrm>
            <a:off x="457200" y="6428232"/>
            <a:ext cx="112471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 lIns="137160" tIns="91440" rIns="137160" bIns="91440"/>
          <a:lstStyle/>
          <a:p>
            <a:pPr/>
            <a:r>
              <a:rPr lang="en-US" sz="800">
                <a:solidFill>
                  <a:srgbClr val="6B7A90"/>
                </a:solidFill>
              </a:rPr>
              <a:t>19  |  PDF Toolkit - BTP Presentation</a:t>
            </a:r>
            <a:endParaRPr lang="en-US" sz="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</p:sp>
      <p:sp>
        <p:nvSpPr>
          <p:cNvPr id="2" name="Top blue band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5CAD"/>
          </a:solidFill>
          <a:ln w="9525">
            <a:solidFill>
              <a:srgbClr val="0B5CAD"/>
            </a:solidFill>
          </a:ln>
        </p:spPr>
      </p:sp>
      <p:sp>
        <p:nvSpPr>
          <p:cNvPr id="3" name="Slide title"/>
          <p:cNvSpPr txBox="1"/>
          <p:nvPr/>
        </p:nvSpPr>
        <p:spPr>
          <a:xfrm>
            <a:off x="411480" y="73152"/>
            <a:ext cx="86868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137160" tIns="91440" rIns="137160" bIns="91440"/>
          <a:lstStyle/>
          <a:p>
            <a:pPr/>
            <a:r>
              <a:rPr lang="en-US" sz="2100" b="1">
                <a:solidFill>
                  <a:srgbClr val="FFFFFF"/>
                </a:solidFill>
              </a:rPr>
              <a:t>Thank You</a:t>
            </a:r>
            <a:endParaRPr lang="en-US" sz="2100"/>
          </a:p>
        </p:txBody>
      </p:sp>
      <p:sp>
        <p:nvSpPr>
          <p:cNvPr id="4" name="Slide subtitle"/>
          <p:cNvSpPr txBox="1"/>
          <p:nvPr/>
        </p:nvSpPr>
        <p:spPr>
          <a:xfrm>
            <a:off x="9052560" y="109728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mid" lIns="137160" tIns="91440" rIns="137160" bIns="91440"/>
          <a:lstStyle/>
          <a:p>
            <a:pPr/>
            <a:r>
              <a:rPr lang="en-US" sz="1000">
                <a:solidFill>
                  <a:srgbClr val="EAF3FF"/>
                </a:solidFill>
              </a:rPr>
              <a:t>PDF Toolkit BTP</a:t>
            </a:r>
            <a:endParaRPr lang="en-US" sz="1000"/>
          </a:p>
        </p:txBody>
      </p:sp>
      <p:sp>
        <p:nvSpPr>
          <p:cNvPr id="10" name="Bullets"/>
          <p:cNvSpPr txBox="1"/>
          <p:nvPr/>
        </p:nvSpPr>
        <p:spPr>
          <a:xfrm>
            <a:off x="594360" y="1097280"/>
            <a:ext cx="4846320" cy="4480560"/>
          </a:xfrm>
          <a:prstGeom prst="rect">
            <a:avLst/>
          </a:prstGeom>
          <a:noFill/>
          <a:ln>
            <a:noFill/>
          </a:ln>
        </p:spPr>
        <p:txBody>
          <a:bodyPr wrap="square" anchor="t" lIns="137160" tIns="91440" rIns="137160" bIns="91440"/>
          <a:lstStyle/>
          <a:p>
            <a:pPr/>
            <a:r>
              <a:rPr lang="en-US" sz="1700" b="1">
                <a:solidFill>
                  <a:srgbClr val="263238"/>
                </a:solidFill>
              </a:rPr>
              <a:t>Key Points</a:t>
            </a:r>
            <a:endParaRPr lang="en-US" sz="1700"/>
          </a:p>
          <a:p>
            <a:pPr marL="285750" indent="-171450">
              <a:buChar char="•"/>
            </a:pPr>
            <a:r>
              <a:rPr lang="en-US" sz="1700">
                <a:solidFill>
                  <a:srgbClr val="263238"/>
                </a:solidFill>
              </a:rPr>
              <a:t>Questions?</a:t>
            </a:r>
            <a:endParaRPr lang="en-US" sz="1700"/>
          </a:p>
          <a:p>
            <a:pPr marL="285750" indent="-171450">
              <a:buChar char="•"/>
            </a:pPr>
            <a:r>
              <a:rPr lang="en-US" sz="1700">
                <a:solidFill>
                  <a:srgbClr val="263238"/>
                </a:solidFill>
              </a:rPr>
              <a:t>PDF Toolkit - A Web-Based PDF Processing Platform</a:t>
            </a:r>
            <a:endParaRPr lang="en-US" sz="1700"/>
          </a:p>
        </p:txBody>
      </p:sp>
      <p:sp>
        <p:nvSpPr>
          <p:cNvPr id="40" name="Q"/>
          <p:cNvSpPr txBox="1"/>
          <p:nvPr/>
        </p:nvSpPr>
        <p:spPr>
          <a:xfrm>
            <a:off x="4892040" y="1874519"/>
            <a:ext cx="2194560" cy="2194560"/>
          </a:xfrm>
          <a:prstGeom prst="roundRect">
            <a:avLst/>
          </a:prstGeom>
          <a:solidFill>
            <a:srgbClr val="0B5CAD"/>
          </a:solidFill>
          <a:ln w="9525">
            <a:solidFill>
              <a:srgbClr val="0B5CAD"/>
            </a:solidFill>
          </a:ln>
        </p:spPr>
        <p:txBody>
          <a:bodyPr wrap="square" anchor="mid" lIns="137160" tIns="91440" rIns="137160" bIns="91440"/>
          <a:lstStyle/>
          <a:p>
            <a:pPr/>
            <a:r>
              <a:rPr lang="en-US" sz="3400" b="1">
                <a:solidFill>
                  <a:srgbClr val="FFFFFF"/>
                </a:solidFill>
              </a:rPr>
              <a:t>Q&amp;A</a:t>
            </a:r>
            <a:endParaRPr lang="en-US" sz="3400"/>
          </a:p>
        </p:txBody>
      </p:sp>
      <p:sp>
        <p:nvSpPr>
          <p:cNvPr id="900" name="Footer"/>
          <p:cNvSpPr txBox="1"/>
          <p:nvPr/>
        </p:nvSpPr>
        <p:spPr>
          <a:xfrm>
            <a:off x="457200" y="6428232"/>
            <a:ext cx="112471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 lIns="137160" tIns="91440" rIns="137160" bIns="91440"/>
          <a:lstStyle/>
          <a:p>
            <a:pPr/>
            <a:r>
              <a:rPr lang="en-US" sz="800">
                <a:solidFill>
                  <a:srgbClr val="6B7A90"/>
                </a:solidFill>
              </a:rPr>
              <a:t>20  |  PDF Toolkit - BTP Presentation</a:t>
            </a:r>
            <a:endParaRPr lang="en-US" sz="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DF Toolkit">
  <a:themeElements>
    <a:clrScheme name="Blue White">
      <a:dk1>
        <a:srgbClr val="263238"/>
      </a:dk1>
      <a:lt1>
        <a:srgbClr val="FFFFFF"/>
      </a:lt1>
      <a:dk2>
        <a:srgbClr val="0B5CAD"/>
      </a:dk2>
      <a:lt2>
        <a:srgbClr val="EAF3FF"/>
      </a:lt2>
      <a:accent1>
        <a:srgbClr val="0B5CAD"/>
      </a:accent1>
      <a:accent2>
        <a:srgbClr val="1976D2"/>
      </a:accent2>
      <a:accent3>
        <a:srgbClr val="8BBCE8"/>
      </a:accent3>
      <a:accent4>
        <a:srgbClr val="43A047"/>
      </a:accent4>
      <a:accent5>
        <a:srgbClr val="F9A825"/>
      </a:accent5>
      <a:accent6>
        <a:srgbClr val="546E7A"/>
      </a:accent6>
      <a:hlink>
        <a:srgbClr val="0B5CAD"/>
      </a:hlink>
      <a:folHlink>
        <a:srgbClr val="546E7A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Clean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